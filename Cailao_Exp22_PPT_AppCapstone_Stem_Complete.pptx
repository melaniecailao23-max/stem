
<file path=[Content_Types].xml><?xml version="1.0" encoding="utf-8"?>
<ns0:Types xmlns:ns0="http://schemas.openxmlformats.org/package/2006/content-types">
  <ns0:Default Extension="png" ContentType="image/png"/>
  <ns0:Default Extension="rels" ContentType="application/vnd.openxmlformats-package.relationships+xml"/>
  <ns0:Default Extension="svg" ContentType="image/svg+xml"/>
  <ns0:Default Extension="xml" ContentType="application/xml"/>
  <ns0:Override PartName="/ppt/webextensions/taskpanes.xml" ContentType="application/vnd.ms-office.webextensiontaskpanes+xml"/>
  <ns0:Override PartName="/ppt/webextensions/webextension1.xml" ContentType="application/vnd.ms-office.webextension+xml"/>
  <ns0:Override PartName="/ppt/presentation.xml" ContentType="application/vnd.openxmlformats-officedocument.presentationml.presentation.main+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notesMasters/notesMaster1.xml" ContentType="application/vnd.openxmlformats-officedocument.presentationml.notesMaster+xml"/>
  <ns0:Override PartName="/ppt/handoutMasters/handoutMaster1.xml" ContentType="application/vnd.openxmlformats-officedocument.presentationml.handoutMaster+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theme/theme2.xml" ContentType="application/vnd.openxmlformats-officedocument.theme+xml"/>
  <ns0:Override PartName="/ppt/theme/theme3.xml" ContentType="application/vnd.openxmlformats-officedocument.theme+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customXml/itemProps1.xml" ContentType="application/vnd.openxmlformats-officedocument.customXmlProperties+xml"/>
  <ns0:Default Extension="jpg" ContentType="image/jpeg"/>
  <ns0:Default Extension="jpeg" ContentType="image/jpeg"/>
  <ns0:Default Extension="mp4" ContentType="video/mp4"/>
  <ns0:Default Extension="xlsx" ContentType="application/vnd.openxmlformats-officedocument.spreadsheetml.sheet"/>
  <ns0:Override PartName="/ppt/charts/chart1.xml" ContentType="application/vnd.openxmlformats-officedocument.drawingml.chart+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resentation xmlns="http://schemas.openxmlformats.org/presentationml/2006/main" xmlns:a="http://schemas.openxmlformats.org/drawingml/2006/main" xmlns:p15="http://schemas.microsoft.com/office/powerpoint/2012/main" xmlns:r="http://schemas.openxmlformats.org/officeDocument/2006/relationships" saveSubsetFonts="1">
  <sldMasterIdLst>
    <sldMasterId id="2147483648" r:id="rId2"/>
  </sldMasterIdLst>
  <notesMasterIdLst>
    <notesMasterId r:id="rId17"/>
  </notesMasterIdLst>
  <handoutMasterIdLst>
    <handoutMasterId r:id="rId18"/>
  </handoutMasterIdLst>
  <sldIdLst>
    <sldId id="256" r:id="rId3"/>
    <sldId id="257" r:id="rId4"/>
    <sldId id="260" r:id="rId5"/>
    <sldId id="261" r:id="rId6"/>
    <sldId id="332" r:id="rId7"/>
    <sldId id="267" r:id="rId8"/>
    <sldId id="337" r:id="rId10"/>
    <sldId id="269" r:id="rId11"/>
    <sldId id="333" r:id="rId12"/>
    <sldId id="335" r:id="rId13"/>
    <sldId id="334" r:id="rId14"/>
    <sldId id="331" r:id="rId15"/>
    <sldId id="336" r:id="rId16"/>
    <sldId id="400" r:id="rId23"/>
    <sldId id="401" r:id="rId24"/>
    <sldId id="402" r:id="rId25"/>
    <sldId id="403" r:id="rId26"/>
  </sldIdLst>
  <sldSz cx="12192000" cy="6858000"/>
  <notesSz cx="6858000" cy="9144000"/>
  <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defaultTextStyle>
  <extLst>
    <ext uri="{EFAFB233-063F-42B5-8137-9DF3F51BA10A}">
      <p15:sldGuideLst>
        <p15:guide id="1" pos="3840" userDrawn="1">
          <p15:clr>
            <a:srgbClr val="A4A3A4"/>
          </p15:clr>
        </p15:guide>
        <p15:guide id="2" orient="horz" pos="2160" userDrawn="1">
          <p15:clr>
            <a:srgbClr val="A4A3A4"/>
          </p15:clr>
        </p15:guide>
      </p15:sldGuideLst>
    </ext>
    <ext uri="{2D200454-40CA-4A62-9FC3-DE9A4176ACB9}">
      <p15:notesGuideLst/>
    </ext>
  </extLst>
</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6" autoAdjust="0"/>
    <p:restoredTop sz="90237" autoAdjust="0"/>
  </p:normalViewPr>
  <p:slideViewPr>
    <p:cSldViewPr snapToGrid="0">
      <p:cViewPr varScale="1">
        <p:scale>
          <a:sx n="89" d="100"/>
          <a:sy n="89" d="100"/>
        </p:scale>
        <p:origin x="724" y="64"/>
      </p:cViewPr>
      <p:guideLst>
        <p:guide pos="3840"/>
        <p:guide orient="horz" pos="216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2838" y="108"/>
      </p:cViewPr>
      <p:guideLst/>
    </p:cSldViewPr>
  </p:notesViewPr>
  <p:gridSpacing cx="76200" cy="76200"/>
</p:viewPr>
</file>

<file path=ppt/_rels/presentation.xml.rels><?xml version='1.0' encoding='UTF-8'?>
<rel:Relationships xmlns:rel="http://schemas.openxmlformats.org/package/2006/relationships"><rel:Relationship Type="http://schemas.openxmlformats.org/officeDocument/2006/relationships/slide" Target="slides/slide6.xml" Id="rId8" /><rel:Relationship Type="http://schemas.openxmlformats.org/officeDocument/2006/relationships/slide" Target="slides/slide11.xml" Id="rId13" /><rel:Relationship Type="http://schemas.openxmlformats.org/officeDocument/2006/relationships/handoutMaster" Target="handoutMasters/handoutMaster1.xml" Id="rId18" /><rel:Relationship Type="http://schemas.openxmlformats.org/officeDocument/2006/relationships/slide" Target="slides/slide1.xml" Id="rId3" /><rel:Relationship Type="http://schemas.openxmlformats.org/officeDocument/2006/relationships/theme" Target="theme/theme1.xml" Id="rId21" /><rel:Relationship Type="http://schemas.openxmlformats.org/officeDocument/2006/relationships/slide" Target="slides/slide5.xml" Id="rId7" /><rel:Relationship Type="http://schemas.openxmlformats.org/officeDocument/2006/relationships/slide" Target="slides/slide10.xml" Id="rId12" /><rel:Relationship Type="http://schemas.openxmlformats.org/officeDocument/2006/relationships/notesMaster" Target="notesMasters/notesMaster1.xml" Id="rId17" /><rel:Relationship Type="http://schemas.openxmlformats.org/officeDocument/2006/relationships/slideMaster" Target="slideMasters/slideMaster1.xml" Id="rId2" /><rel:Relationship Type="http://schemas.openxmlformats.org/officeDocument/2006/relationships/slide" Target="slides/slide14.xml" Id="rId16" /><rel:Relationship Type="http://schemas.openxmlformats.org/officeDocument/2006/relationships/viewProps" Target="viewProps.xml" Id="rId20" /><rel:Relationship Type="http://schemas.openxmlformats.org/officeDocument/2006/relationships/slide" Target="slides/slide4.xml" Id="rId6" /><rel:Relationship Type="http://schemas.openxmlformats.org/officeDocument/2006/relationships/slide" Target="slides/slide9.xml" Id="rId11" /><rel:Relationship Type="http://schemas.openxmlformats.org/officeDocument/2006/relationships/slide" Target="slides/slide3.xml" Id="rId5" /><rel:Relationship Type="http://schemas.openxmlformats.org/officeDocument/2006/relationships/slide" Target="slides/slide13.xml" Id="rId15" /><rel:Relationship Type="http://schemas.openxmlformats.org/officeDocument/2006/relationships/slide" Target="slides/slide8.xml" Id="rId10" /><rel:Relationship Type="http://schemas.openxmlformats.org/officeDocument/2006/relationships/presProps" Target="presProps.xml" Id="rId19" /><rel:Relationship Type="http://schemas.openxmlformats.org/officeDocument/2006/relationships/slide" Target="slides/slide2.xml" Id="rId4" /><rel:Relationship Type="http://schemas.openxmlformats.org/officeDocument/2006/relationships/slide" Target="slides/slide7.xml" Id="rId9" /><rel:Relationship Type="http://schemas.openxmlformats.org/officeDocument/2006/relationships/slide" Target="slides/slide12.xml" Id="rId14" /><rel:Relationship Type="http://schemas.openxmlformats.org/officeDocument/2006/relationships/tableStyles" Target="tableStyles.xml" Id="rId22" /><rel:Relationship Type="http://schemas.openxmlformats.org/officeDocument/2006/relationships/customXml" Target="/customXml/item.xml" Id="R4bef304e4bff4639"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Relationships>
</file>

<file path=ppt/charts/chart1.xml><?xml version='1.0' encoding='UTF-8'?>
<c:chartSpace xmlns:a="http://schemas.openxmlformats.org/drawingml/2006/main" xmlns:c="http://schemas.openxmlformats.org/drawingml/2006/chart" xmlns:a="http://schemas.openxmlformats.org/drawingml/2006/main" xmlns:r="http://schemas.openxmlformats.org/officeDocument/2006/relationships"><c:chart><c:autoTitleDeleted val="1" /><c:plotArea><c:layout /><c:barChart><c:barDir val="col" /><c:grouping val="clustered" /><c:varyColors val="0" /><c:ser><c:idx val="0" /><c:order val="0" /><c:tx><c:strRef><c:f>Sheet1!$B$1</c:f><c:strCache><c:ptCount val="1" /><c:pt idx="0"><c:v>Percentage</c:v></c:pt></c:strCache></c:strRef></c:tx><c:dLbls><c:dLblPos val="outEnd" /><c:showVal val="1" /><c:showCatName val="0" /><c:showSerName val="0" /><c:txPr><a:bodyPr /><a:lstStyle /><a:p><a:pPr><a:defRPr sz="1800" /></a:pPr></a:p></c:txPr></c:dLbls><c:cat><c:strRef><c:f>Sheet1!$A$2:$A$7</c:f><c:strCache><c:ptCount val="6" /><c:pt idx="0"><c:v>All Occupations</c:v></c:pt><c:pt idx="1"><c:v>Mathematics</c:v></c:pt><c:pt idx="2"><c:v>Computer Systems Analysts</c:v></c:pt><c:pt idx="3"><c:v>Systems Software Developers</c:v></c:pt><c:pt idx="4"><c:v>Medical Scientists</c:v></c:pt><c:pt idx="5"><c:v>Biomedical Engineers</c:v></c:pt></c:strCache></c:strRef></c:cat><c:val><c:numRef><c:f>Sheet1!$B$2:$B$7</c:f><c:numCache><c:formatCode>0%</c:formatCode><c:ptCount val="6" /><c:pt idx="0"><c:v>0.14</c:v></c:pt><c:pt idx="1"><c:v>0.16</c:v></c:pt><c:pt idx="2"><c:v>0.22</c:v></c:pt><c:pt idx="3"><c:v>0.32</c:v></c:pt><c:pt idx="4"><c:v>0.36</c:v></c:pt><c:pt idx="5"><c:v>0.62</c:v></c:pt></c:numCache></c:numRef></c:val></c:ser><c:axId val="1" /><c:axId val="2" /></c:barChart><c:catAx><c:axId val="1" /><c:scaling><c:orientation val="minMax" /></c:scaling><c:delete val="0" /><c:axPos val="b" /><c:crossAx val="2" /><c:txPr><a:bodyPr /><a:lstStyle /><a:p><a:pPr><a:defRPr sz="1600" /></a:pPr></a:p></c:txPr></c:catAx><c:valAx><c:axId val="2" /><c:scaling><c:orientation val="minMax" /></c:scaling><c:delete val="1" /><c:axPos val="l" /><c:crossAx val="1" /></c:valAx></c:plotArea></c:chart></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475077-A074-4E8C-B45E-964494945228}" type="datetimeFigureOut">
              <a:rPr lang="en-US"/>
              <a:t>8/21/2021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E4C80B-8910-445E-8D30-7A590951118B}" type="slidenum">
              <a:rPr/>
              <a:t>‹#›</a:t>
            </a:fld>
            <a:endParaRPr/>
          </a:p>
        </p:txBody>
      </p:sp>
    </p:spTree>
    <p:extLst>
      <p:ext uri="{BB962C8B-B14F-4D97-AF65-F5344CB8AC3E}">
        <p14:creationId xmlns:p14="http://schemas.microsoft.com/office/powerpoint/2010/main" val="16212540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2B48A4-4B96-49F4-8C25-4C9D06114B2C}" type="datetimeFigureOut">
              <a:rPr lang="en-US"/>
              <a:t>8/21/2021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81F1E7-4EFD-4BFF-B438-FCD52FD36B17}" type="slidenum">
              <a:rPr/>
              <a:t>‹#›</a:t>
            </a:fld>
            <a:endParaRPr/>
          </a:p>
        </p:txBody>
      </p:sp>
    </p:spTree>
    <p:extLst>
      <p:ext uri="{BB962C8B-B14F-4D97-AF65-F5344CB8AC3E}">
        <p14:creationId xmlns:p14="http://schemas.microsoft.com/office/powerpoint/2010/main" val="47356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jec.senate.gov/public/index.cfm?a=Files.Serve&amp;File_id=6aaa7e1f-9586-47be-82e7-326f47658320"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notes xmlns="http://schemas.openxmlformats.org/presentationml/2006/main" xmlns:a="http://schemas.openxmlformats.org/drawingml/2006/main" xmlns:p14="http://schemas.microsoft.com/office/powerpoint/2010/main">
  <cSld>
    <spTree>
      <nvGrpSpPr>
        <cNvPr id="1" name=""/>
        <cNvGrpSpPr/>
        <nvPr/>
      </nvGrpSpPr>
      <grpSpPr>
        <a:xfrm>
          <a:off x="0" y="0"/>
          <a:ext cx="0" cy="0"/>
          <a:chOff x="0" y="0"/>
          <a:chExt cx="0" cy="0"/>
        </a:xfrm>
      </grpSpPr>
      <sp>
        <nvSpPr>
          <cNvPr id="2" name="Slide Image Placeholder 1"/>
          <cNvSpPr>
            <a:spLocks noGrp="1" noRot="1" noChangeAspect="1"/>
          </cNvSpPr>
          <nvPr>
            <ph type="sldImg"/>
          </nvPr>
        </nvSpPr>
        <spPr/>
      </sp>
      <sp>
        <nvSpPr>
          <cNvPr id="3" name="Notes Placeholder 2"/>
          <cNvSpPr>
            <a:spLocks noGrp="1"/>
          </cNvSpPr>
          <nvPr>
            <ph type="body" idx="1"/>
          </nvPr>
        </nvSpPr>
        <spPr/>
        <txBody>
          <a:bodyPr/>
          <a:lstStyle/>
          <a:p>
            <a:r>
              <a:rPr lang="en-US"/>
              <a:t>Welcome to our presentation on STEM education.</a:t>
            </a:r>
          </a:p>
        </txBody>
      </sp>
      <sp>
        <nvSpPr>
          <cNvPr id="4" name="Slide Number Placeholder 3"/>
          <cNvSpPr>
            <a:spLocks noGrp="1"/>
          </cNvSpPr>
          <nvPr>
            <ph type="sldNum" sz="quarter" idx="10"/>
          </nvPr>
        </nvSpPr>
        <spPr/>
        <txBody>
          <a:bodyPr/>
          <a:lstStyle/>
          <a:p>
            <a:fld id="{5D81F1E7-4EFD-4BFF-B438-FCD52FD36B17}" type="slidenum">
              <a:rPr lang="en-US" smtClean="0"/>
              <a:t>1</a:t>
            </a:fld>
            <a:endParaRPr lang="en-US"/>
          </a:p>
        </txBody>
      </sp>
    </spTree>
    <extLst>
      <ext uri="{BB962C8B-B14F-4D97-AF65-F5344CB8AC3E}">
        <p14:creationId val="3655907916"/>
      </ext>
    </extLst>
  </cSld>
  <clrMapOvr>
    <a:masterClrMapping/>
  </clrMapOvr>
</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acronym STEM stands for Science, Technology, Engineering, and Mathematics. This program was started by Judith A. </a:t>
            </a:r>
            <a:r>
              <a:rPr lang="en-US" sz="1200" kern="1200" dirty="0" err="1">
                <a:solidFill>
                  <a:schemeClr val="tx1"/>
                </a:solidFill>
                <a:effectLst/>
                <a:latin typeface="+mn-lt"/>
                <a:ea typeface="+mn-ea"/>
                <a:cs typeface="+mn-cs"/>
              </a:rPr>
              <a:t>Ramaley</a:t>
            </a:r>
            <a:r>
              <a:rPr lang="en-US" sz="1200" kern="1200" dirty="0">
                <a:solidFill>
                  <a:schemeClr val="tx1"/>
                </a:solidFill>
                <a:effectLst/>
                <a:latin typeface="+mn-lt"/>
                <a:ea typeface="+mn-ea"/>
                <a:cs typeface="+mn-cs"/>
              </a:rPr>
              <a:t>, the former director of the National Science Foundation’s education.</a:t>
            </a:r>
          </a:p>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2</a:t>
            </a:fld>
            <a:endParaRPr lang="en-US"/>
          </a:p>
        </p:txBody>
      </p:sp>
    </p:spTree>
    <p:extLst>
      <p:ext uri="{BB962C8B-B14F-4D97-AF65-F5344CB8AC3E}">
        <p14:creationId xmlns:p14="http://schemas.microsoft.com/office/powerpoint/2010/main" val="129887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teach STEM curriculum?</a:t>
            </a:r>
          </a:p>
        </p:txBody>
      </p:sp>
      <p:sp>
        <p:nvSpPr>
          <p:cNvPr id="4" name="Slide Number Placeholder 3"/>
          <p:cNvSpPr>
            <a:spLocks noGrp="1"/>
          </p:cNvSpPr>
          <p:nvPr>
            <p:ph type="sldNum" sz="quarter" idx="10"/>
          </p:nvPr>
        </p:nvSpPr>
        <p:spPr/>
        <p:txBody>
          <a:bodyPr/>
          <a:lstStyle/>
          <a:p>
            <a:fld id="{5D81F1E7-4EFD-4BFF-B438-FCD52FD36B17}" type="slidenum">
              <a:rPr lang="en-US" smtClean="0"/>
              <a:t>3</a:t>
            </a:fld>
            <a:endParaRPr lang="en-US"/>
          </a:p>
        </p:txBody>
      </p:sp>
    </p:spTree>
    <p:extLst>
      <p:ext uri="{BB962C8B-B14F-4D97-AF65-F5344CB8AC3E}">
        <p14:creationId xmlns:p14="http://schemas.microsoft.com/office/powerpoint/2010/main" val="3155631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2015, the United States educational system received some sobering news. The Program of International Student Assessment (PISA) ranked 15-year-old U.S. high-school students  40</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in mathematics and 25</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in science. These results were based on data from 71 participating nations. </a:t>
            </a:r>
            <a:endParaRPr lang="en-US" dirty="0"/>
          </a:p>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4</a:t>
            </a:fld>
            <a:endParaRPr lang="en-US"/>
          </a:p>
        </p:txBody>
      </p:sp>
    </p:spTree>
    <p:extLst>
      <p:ext uri="{BB962C8B-B14F-4D97-AF65-F5344CB8AC3E}">
        <p14:creationId xmlns:p14="http://schemas.microsoft.com/office/powerpoint/2010/main" val="1788147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Science, technology, engineering, and mathematics (STEM) education is vital to our economic future. As this graph shows, STEM occupations are projected to grow much faster than others. In fact, 15 of the 20 fastest growing jobs require a strong background in mathematics and science.</a:t>
            </a:r>
          </a:p>
          <a:p>
            <a:pPr eaLnBrk="1" hangingPunct="1"/>
            <a:endParaRPr lang="en-US" altLang="en-US" dirty="0"/>
          </a:p>
          <a:p>
            <a:pPr eaLnBrk="1" hangingPunct="1"/>
            <a:r>
              <a:rPr lang="en-US" altLang="en-US" b="1" i="1" dirty="0"/>
              <a:t>SOURCE:</a:t>
            </a:r>
            <a:r>
              <a:rPr lang="en-US" altLang="en-US" i="1" dirty="0"/>
              <a:t> U.S. Congress Joint Economic Committee, STEM Education: Preparing for Jobs of the Future, </a:t>
            </a:r>
            <a:r>
              <a:rPr lang="en-US" altLang="en-US" i="1" dirty="0">
                <a:hlinkClick r:id="rId3"/>
              </a:rPr>
              <a:t>http://www.jec.senate.gov/public/index.cfm?a=Files.Serve&amp;File_id=6aaa7e1f-9586-47be-82e7-326f47658320</a:t>
            </a:r>
            <a:endParaRPr lang="en-US" altLang="en-US" i="1" dirty="0"/>
          </a:p>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5</a:t>
            </a:fld>
            <a:endParaRPr lang="en-US"/>
          </a:p>
        </p:txBody>
      </p:sp>
    </p:spTree>
    <p:extLst>
      <p:ext uri="{BB962C8B-B14F-4D97-AF65-F5344CB8AC3E}">
        <p14:creationId xmlns:p14="http://schemas.microsoft.com/office/powerpoint/2010/main" val="189062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6</a:t>
            </a:fld>
            <a:endParaRPr lang="en-US"/>
          </a:p>
        </p:txBody>
      </p:sp>
    </p:spTree>
    <p:extLst>
      <p:ext uri="{BB962C8B-B14F-4D97-AF65-F5344CB8AC3E}">
        <p14:creationId xmlns:p14="http://schemas.microsoft.com/office/powerpoint/2010/main" val="2806135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solid </a:t>
            </a:r>
            <a:r>
              <a:rPr lang="en-US" b="1" dirty="0"/>
              <a:t>STEM</a:t>
            </a:r>
            <a:r>
              <a:rPr lang="en-US" dirty="0"/>
              <a:t> foundation through a well-rounded curriculum is the best way to ensure that students are exposed to math, science, and technology throughout their educational career.</a:t>
            </a:r>
          </a:p>
        </p:txBody>
      </p:sp>
      <p:sp>
        <p:nvSpPr>
          <p:cNvPr id="4" name="Slide Number Placeholder 3"/>
          <p:cNvSpPr>
            <a:spLocks noGrp="1"/>
          </p:cNvSpPr>
          <p:nvPr>
            <p:ph type="sldNum" sz="quarter" idx="10"/>
          </p:nvPr>
        </p:nvSpPr>
        <p:spPr/>
        <p:txBody>
          <a:bodyPr/>
          <a:lstStyle/>
          <a:p>
            <a:fld id="{5D81F1E7-4EFD-4BFF-B438-FCD52FD36B17}" type="slidenum">
              <a:rPr lang="en-US" smtClean="0"/>
              <a:t>7</a:t>
            </a:fld>
            <a:endParaRPr lang="en-US"/>
          </a:p>
        </p:txBody>
      </p:sp>
    </p:spTree>
    <p:extLst>
      <p:ext uri="{BB962C8B-B14F-4D97-AF65-F5344CB8AC3E}">
        <p14:creationId xmlns:p14="http://schemas.microsoft.com/office/powerpoint/2010/main" val="325394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what STEM education is.</a:t>
            </a:r>
          </a:p>
        </p:txBody>
      </p:sp>
      <p:sp>
        <p:nvSpPr>
          <p:cNvPr id="4" name="Slide Number Placeholder 3"/>
          <p:cNvSpPr>
            <a:spLocks noGrp="1"/>
          </p:cNvSpPr>
          <p:nvPr>
            <p:ph type="sldNum" sz="quarter" idx="10"/>
          </p:nvPr>
        </p:nvSpPr>
        <p:spPr/>
        <p:txBody>
          <a:bodyPr/>
          <a:lstStyle/>
          <a:p>
            <a:fld id="{5D81F1E7-4EFD-4BFF-B438-FCD52FD36B17}" type="slidenum">
              <a:rPr lang="en-US" smtClean="0"/>
              <a:t>8</a:t>
            </a:fld>
            <a:endParaRPr lang="en-US"/>
          </a:p>
        </p:txBody>
      </p:sp>
    </p:spTree>
    <p:extLst>
      <p:ext uri="{BB962C8B-B14F-4D97-AF65-F5344CB8AC3E}">
        <p14:creationId xmlns:p14="http://schemas.microsoft.com/office/powerpoint/2010/main" val="3046378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current curriculum.</a:t>
            </a:r>
          </a:p>
        </p:txBody>
      </p:sp>
      <p:sp>
        <p:nvSpPr>
          <p:cNvPr id="4" name="Slide Number Placeholder 3"/>
          <p:cNvSpPr>
            <a:spLocks noGrp="1"/>
          </p:cNvSpPr>
          <p:nvPr>
            <p:ph type="sldNum" sz="quarter" idx="10"/>
          </p:nvPr>
        </p:nvSpPr>
        <p:spPr/>
        <p:txBody>
          <a:bodyPr/>
          <a:lstStyle/>
          <a:p>
            <a:fld id="{5D81F1E7-4EFD-4BFF-B438-FCD52FD36B17}" type="slidenum">
              <a:rPr lang="en-US" smtClean="0"/>
              <a:t>9</a:t>
            </a:fld>
            <a:endParaRPr lang="en-US"/>
          </a:p>
        </p:txBody>
      </p:sp>
    </p:spTree>
    <p:extLst>
      <p:ext uri="{BB962C8B-B14F-4D97-AF65-F5344CB8AC3E}">
        <p14:creationId xmlns:p14="http://schemas.microsoft.com/office/powerpoint/2010/main" val="4243035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Elementary school STEM education.</a:t>
            </a:r>
          </a:p>
        </p:txBody>
      </p:sp>
      <p:sp>
        <p:nvSpPr>
          <p:cNvPr id="4" name="Slide Number Placeholder 3"/>
          <p:cNvSpPr>
            <a:spLocks noGrp="1"/>
          </p:cNvSpPr>
          <p:nvPr>
            <p:ph type="sldNum" sz="quarter" idx="10"/>
          </p:nvPr>
        </p:nvSpPr>
        <p:spPr/>
        <p:txBody>
          <a:bodyPr/>
          <a:lstStyle/>
          <a:p>
            <a:fld id="{5D81F1E7-4EFD-4BFF-B438-FCD52FD36B17}" type="slidenum">
              <a:rPr lang="en-US" smtClean="0"/>
              <a:t>10</a:t>
            </a:fld>
            <a:endParaRPr lang="en-US"/>
          </a:p>
        </p:txBody>
      </p:sp>
    </p:spTree>
    <p:extLst>
      <p:ext uri="{BB962C8B-B14F-4D97-AF65-F5344CB8AC3E}">
        <p14:creationId xmlns:p14="http://schemas.microsoft.com/office/powerpoint/2010/main" val="3189843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 School STEM education.</a:t>
            </a:r>
          </a:p>
        </p:txBody>
      </p:sp>
      <p:sp>
        <p:nvSpPr>
          <p:cNvPr id="4" name="Slide Number Placeholder 3"/>
          <p:cNvSpPr>
            <a:spLocks noGrp="1"/>
          </p:cNvSpPr>
          <p:nvPr>
            <p:ph type="sldNum" sz="quarter" idx="10"/>
          </p:nvPr>
        </p:nvSpPr>
        <p:spPr/>
        <p:txBody>
          <a:bodyPr/>
          <a:lstStyle/>
          <a:p>
            <a:fld id="{5D81F1E7-4EFD-4BFF-B438-FCD52FD36B17}" type="slidenum">
              <a:rPr lang="en-US" smtClean="0"/>
              <a:t>11</a:t>
            </a:fld>
            <a:endParaRPr lang="en-US"/>
          </a:p>
        </p:txBody>
      </p:sp>
    </p:spTree>
    <p:extLst>
      <p:ext uri="{BB962C8B-B14F-4D97-AF65-F5344CB8AC3E}">
        <p14:creationId xmlns:p14="http://schemas.microsoft.com/office/powerpoint/2010/main" val="2365416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a:t>
            </a:r>
            <a:r>
              <a:rPr lang="en-US"/>
              <a:t>School science.</a:t>
            </a:r>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12</a:t>
            </a:fld>
            <a:endParaRPr lang="en-US"/>
          </a:p>
        </p:txBody>
      </p:sp>
    </p:spTree>
    <p:extLst>
      <p:ext uri="{BB962C8B-B14F-4D97-AF65-F5344CB8AC3E}">
        <p14:creationId xmlns:p14="http://schemas.microsoft.com/office/powerpoint/2010/main" val="2023412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latin typeface="Calibri" pitchFamily="34" charset="0"/>
              </a:rPr>
              <a:t>The majority of college students and parents believe that preparing students for careers in STEM </a:t>
            </a:r>
            <a:r>
              <a:rPr lang="en-US" sz="1200" u="none" dirty="0">
                <a:latin typeface="Calibri" pitchFamily="34" charset="0"/>
              </a:rPr>
              <a:t>should</a:t>
            </a:r>
            <a:r>
              <a:rPr lang="en-US" sz="1200" dirty="0">
                <a:latin typeface="Calibri" pitchFamily="34" charset="0"/>
              </a:rPr>
              <a:t> be a priority for K</a:t>
            </a:r>
            <a:r>
              <a:rPr lang="en-US" sz="1200" dirty="0"/>
              <a:t>–</a:t>
            </a:r>
            <a:r>
              <a:rPr lang="en-US" sz="1200" dirty="0">
                <a:latin typeface="Calibri" pitchFamily="34" charset="0"/>
              </a:rPr>
              <a:t>12 schools in the U.S.; however, only half believe it actually </a:t>
            </a:r>
            <a:r>
              <a:rPr lang="en-US" sz="1200" u="none" dirty="0">
                <a:latin typeface="Calibri" pitchFamily="34" charset="0"/>
              </a:rPr>
              <a:t>is</a:t>
            </a:r>
            <a:r>
              <a:rPr lang="en-US" sz="1200" dirty="0">
                <a:latin typeface="Calibri" pitchFamily="34" charset="0"/>
              </a:rPr>
              <a:t> a top priority in schools.</a:t>
            </a:r>
            <a:endParaRPr lang="en-US" dirty="0"/>
          </a:p>
        </p:txBody>
      </p:sp>
      <p:sp>
        <p:nvSpPr>
          <p:cNvPr id="4" name="Slide Number Placeholder 3"/>
          <p:cNvSpPr>
            <a:spLocks noGrp="1"/>
          </p:cNvSpPr>
          <p:nvPr>
            <p:ph type="sldNum" sz="quarter" idx="10"/>
          </p:nvPr>
        </p:nvSpPr>
        <p:spPr/>
        <p:txBody>
          <a:bodyPr/>
          <a:lstStyle/>
          <a:p>
            <a:fld id="{6C52F61B-6CAB-47F9-B0E9-D60B2E7CF259}"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remain competitive in the 21</a:t>
            </a:r>
            <a:r>
              <a:rPr lang="en-US" baseline="30000" dirty="0"/>
              <a:t>st</a:t>
            </a:r>
            <a:r>
              <a:rPr lang="en-US" dirty="0"/>
              <a:t> century we need to prepare our students for the future.</a:t>
            </a:r>
          </a:p>
        </p:txBody>
      </p:sp>
      <p:sp>
        <p:nvSpPr>
          <p:cNvPr id="4" name="Slide Number Placeholder 3"/>
          <p:cNvSpPr>
            <a:spLocks noGrp="1"/>
          </p:cNvSpPr>
          <p:nvPr>
            <p:ph type="sldNum" sz="quarter" idx="10"/>
          </p:nvPr>
        </p:nvSpPr>
        <p:spPr/>
        <p:txBody>
          <a:bodyPr/>
          <a:lstStyle/>
          <a:p>
            <a:fld id="{5D81F1E7-4EFD-4BFF-B438-FCD52FD36B17}" type="slidenum">
              <a:rPr lang="en-US" smtClean="0"/>
              <a:t>14</a:t>
            </a:fld>
            <a:endParaRPr lang="en-US"/>
          </a:p>
        </p:txBody>
      </p:sp>
    </p:spTree>
    <p:extLst>
      <p:ext uri="{BB962C8B-B14F-4D97-AF65-F5344CB8AC3E}">
        <p14:creationId xmlns:p14="http://schemas.microsoft.com/office/powerpoint/2010/main" val="3195644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ltGray">
          <a:xfrm>
            <a:off x="0" y="4572000"/>
            <a:ext cx="12192000" cy="160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09600" y="4740333"/>
            <a:ext cx="10972800" cy="1263534"/>
          </a:xfrm>
        </p:spPr>
        <p:txBody>
          <a:bodyPr anchor="ctr">
            <a:normAutofit/>
          </a:bodyPr>
          <a:lstStyle>
            <a:lvl1pPr algn="l">
              <a:defRPr sz="5800"/>
            </a:lvl1pPr>
          </a:lstStyle>
          <a:p>
            <a:r>
              <a:rPr lang="en-US"/>
              <a:t>Click to edit Master title style</a:t>
            </a:r>
            <a:endParaRPr dirty="0"/>
          </a:p>
        </p:txBody>
      </p:sp>
      <p:cxnSp>
        <p:nvCxnSpPr>
          <p:cNvPr id="8" name="Straight Connector 7"/>
          <p:cNvCxnSpPr/>
          <p:nvPr/>
        </p:nvCxnSpPr>
        <p:spPr>
          <a:xfrm>
            <a:off x="0" y="62103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p:nvPr>
        </p:nvSpPr>
        <p:spPr>
          <a:xfrm>
            <a:off x="609600" y="6286500"/>
            <a:ext cx="10972800" cy="457200"/>
          </a:xfrm>
        </p:spPr>
        <p:txBody>
          <a:bodyPr anchor="ctr">
            <a:normAutofit/>
          </a:bodyPr>
          <a:lstStyle>
            <a:lvl1pPr marL="0" indent="0" algn="l">
              <a:spcBef>
                <a:spcPts val="0"/>
              </a:spcBef>
              <a:buNone/>
              <a:defRPr sz="1800">
                <a:solidFill>
                  <a:schemeClr val="tx1">
                    <a:lumMod val="50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dirty="0"/>
          </a:p>
        </p:txBody>
      </p:sp>
    </p:spTree>
    <p:extLst>
      <p:ext uri="{BB962C8B-B14F-4D97-AF65-F5344CB8AC3E}">
        <p14:creationId xmlns:p14="http://schemas.microsoft.com/office/powerpoint/2010/main" val="1531164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p:txBody>
      </p:sp>
      <p:sp>
        <p:nvSpPr>
          <p:cNvPr id="6" name="Slide Number Placeholder 3"/>
          <p:cNvSpPr>
            <a:spLocks noGrp="1"/>
          </p:cNvSpPr>
          <p:nvPr>
            <p:ph type="sldNum" sz="quarter" idx="12"/>
          </p:nvPr>
        </p:nvSpPr>
        <p:spPr/>
        <p:txBody>
          <a:bodyPr/>
          <a:lstStyle/>
          <a:p>
            <a:fld id="{5F4C9F40-B079-4B71-A627-7266DFEA7F03}" type="slidenum">
              <a:rPr/>
              <a:t>‹#›</a:t>
            </a:fld>
            <a:endParaRPr/>
          </a:p>
        </p:txBody>
      </p:sp>
      <p:sp>
        <p:nvSpPr>
          <p:cNvPr id="5" name="Footer Placeholder 4"/>
          <p:cNvSpPr>
            <a:spLocks noGrp="1"/>
          </p:cNvSpPr>
          <p:nvPr>
            <p:ph type="ftr" sz="quarter" idx="11"/>
          </p:nvPr>
        </p:nvSpPr>
        <p:spPr/>
        <p:txBody>
          <a:bodyPr/>
          <a:lstStyle/>
          <a:p>
            <a:endParaRPr/>
          </a:p>
        </p:txBody>
      </p:sp>
      <p:sp>
        <p:nvSpPr>
          <p:cNvPr id="4"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2253080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bwMode="ltGray">
          <a:xfrm>
            <a:off x="0" y="0"/>
            <a:ext cx="12192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09600" y="3153095"/>
            <a:ext cx="10972800" cy="2286000"/>
          </a:xfrm>
        </p:spPr>
        <p:txBody>
          <a:bodyPr anchor="b">
            <a:normAutofit/>
          </a:bodyPr>
          <a:lstStyle>
            <a:lvl1pPr>
              <a:defRPr sz="5800" b="0"/>
            </a:lvl1pPr>
          </a:lstStyle>
          <a:p>
            <a:r>
              <a:rPr lang="en-US"/>
              <a:t>Click to edit Master title style</a:t>
            </a:r>
            <a:endParaRPr/>
          </a:p>
        </p:txBody>
      </p:sp>
      <p:cxnSp>
        <p:nvCxnSpPr>
          <p:cNvPr id="8" name="Straight Connector 7"/>
          <p:cNvCxnSpPr/>
          <p:nvPr/>
        </p:nvCxnSpPr>
        <p:spPr>
          <a:xfrm>
            <a:off x="0" y="57531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603250" y="5864054"/>
            <a:ext cx="10972800" cy="450042"/>
          </a:xfrm>
        </p:spPr>
        <p:txBody>
          <a:bodyPr anchor="ctr"/>
          <a:lstStyle>
            <a:lvl1pPr marL="0" indent="0">
              <a:spcBef>
                <a:spcPts val="0"/>
              </a:spcBef>
              <a:buNone/>
              <a:defRPr sz="2000">
                <a:solidFill>
                  <a:schemeClr val="tx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937242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714501"/>
            <a:ext cx="4752109" cy="4457700"/>
          </a:xfrm>
        </p:spPr>
        <p:txBody>
          <a:bodyPr>
            <a:normAutofit/>
          </a:bodyPr>
          <a:lstStyle>
            <a:lvl1pPr>
              <a:spcBef>
                <a:spcPts val="2000"/>
              </a:spcBef>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73091" y="1714501"/>
            <a:ext cx="4752109" cy="4457700"/>
          </a:xfrm>
        </p:spPr>
        <p:txBody>
          <a:bodyPr>
            <a:normAutofit/>
          </a:bodyPr>
          <a:lstStyle>
            <a:lvl1pPr>
              <a:spcBef>
                <a:spcPts val="2000"/>
              </a:spcBef>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lide Number Placeholder 4"/>
          <p:cNvSpPr>
            <a:spLocks noGrp="1"/>
          </p:cNvSpPr>
          <p:nvPr>
            <p:ph type="sldNum" sz="quarter" idx="12"/>
          </p:nvPr>
        </p:nvSpPr>
        <p:spPr/>
        <p:txBody>
          <a:bodyPr/>
          <a:lstStyle/>
          <a:p>
            <a:fld id="{5F4C9F40-B079-4B71-A627-7266DFEA7F03}" type="slidenum">
              <a:rPr/>
              <a:t>‹#›</a:t>
            </a:fld>
            <a:endParaRPr/>
          </a:p>
        </p:txBody>
      </p:sp>
      <p:sp>
        <p:nvSpPr>
          <p:cNvPr id="6" name="Footer Placeholder 5"/>
          <p:cNvSpPr>
            <a:spLocks noGrp="1"/>
          </p:cNvSpPr>
          <p:nvPr>
            <p:ph type="ftr" sz="quarter" idx="11"/>
          </p:nvPr>
        </p:nvSpPr>
        <p:spPr/>
        <p:txBody>
          <a:bodyPr/>
          <a:lstStyle/>
          <a:p>
            <a:endParaRPr/>
          </a:p>
        </p:txBody>
      </p:sp>
      <p:sp>
        <p:nvSpPr>
          <p:cNvPr id="5" name="Date Placeholder 6"/>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4072386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529541"/>
            <a:ext cx="4754880" cy="811583"/>
          </a:xfrm>
        </p:spPr>
        <p:txBody>
          <a:bodyPr anchor="b"/>
          <a:lstStyle>
            <a:lvl1pPr marL="0" indent="0">
              <a:lnSpc>
                <a:spcPct val="90000"/>
              </a:lnSpc>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6800" y="2484692"/>
            <a:ext cx="4754880" cy="3687508"/>
          </a:xfrm>
        </p:spPr>
        <p:txBody>
          <a:bodyPr/>
          <a:lstStyle>
            <a:lvl1pPr>
              <a:spcBef>
                <a:spcPts val="2000"/>
              </a:spcBef>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70320" y="1529541"/>
            <a:ext cx="4754880" cy="811583"/>
          </a:xfrm>
        </p:spPr>
        <p:txBody>
          <a:bodyPr anchor="b"/>
          <a:lstStyle>
            <a:lvl1pPr marL="0" indent="0">
              <a:lnSpc>
                <a:spcPct val="90000"/>
              </a:lnSpc>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70320" y="2484692"/>
            <a:ext cx="4754880" cy="3687508"/>
          </a:xfrm>
        </p:spPr>
        <p:txBody>
          <a:bodyPr/>
          <a:lstStyle>
            <a:lvl1pPr>
              <a:spcBef>
                <a:spcPts val="2000"/>
              </a:spcBef>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Slide Number Placeholder 6"/>
          <p:cNvSpPr>
            <a:spLocks noGrp="1"/>
          </p:cNvSpPr>
          <p:nvPr>
            <p:ph type="sldNum" sz="quarter" idx="12"/>
          </p:nvPr>
        </p:nvSpPr>
        <p:spPr/>
        <p:txBody>
          <a:bodyPr/>
          <a:lstStyle/>
          <a:p>
            <a:fld id="{5F4C9F40-B079-4B71-A627-7266DFEA7F03}" type="slidenum">
              <a:rPr/>
              <a:t>‹#›</a:t>
            </a:fld>
            <a:endParaRPr/>
          </a:p>
        </p:txBody>
      </p:sp>
      <p:sp>
        <p:nvSpPr>
          <p:cNvPr id="8" name="Footer Placeholder 7"/>
          <p:cNvSpPr>
            <a:spLocks noGrp="1"/>
          </p:cNvSpPr>
          <p:nvPr>
            <p:ph type="ftr" sz="quarter" idx="11"/>
          </p:nvPr>
        </p:nvSpPr>
        <p:spPr/>
        <p:txBody>
          <a:bodyPr/>
          <a:lstStyle/>
          <a:p>
            <a:endParaRPr/>
          </a:p>
        </p:txBody>
      </p:sp>
      <p:sp>
        <p:nvSpPr>
          <p:cNvPr id="7" name="Date Placeholder 8"/>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96062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Slide Number Placeholder 2"/>
          <p:cNvSpPr>
            <a:spLocks noGrp="1"/>
          </p:cNvSpPr>
          <p:nvPr>
            <p:ph type="sldNum" sz="quarter" idx="12"/>
          </p:nvPr>
        </p:nvSpPr>
        <p:spPr/>
        <p:txBody>
          <a:bodyPr/>
          <a:lstStyle/>
          <a:p>
            <a:fld id="{5F4C9F40-B079-4B71-A627-7266DFEA7F03}" type="slidenum">
              <a:rPr/>
              <a:t>‹#›</a:t>
            </a:fld>
            <a:endParaRPr/>
          </a:p>
        </p:txBody>
      </p:sp>
      <p:sp>
        <p:nvSpPr>
          <p:cNvPr id="4" name="Footer Placeholder 3"/>
          <p:cNvSpPr>
            <a:spLocks noGrp="1"/>
          </p:cNvSpPr>
          <p:nvPr>
            <p:ph type="ftr" sz="quarter" idx="11"/>
          </p:nvPr>
        </p:nvSpPr>
        <p:spPr/>
        <p:txBody>
          <a:bodyPr/>
          <a:lstStyle/>
          <a:p>
            <a:endParaRPr/>
          </a:p>
        </p:txBody>
      </p:sp>
      <p:sp>
        <p:nvSpPr>
          <p:cNvPr id="3"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251594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1"/>
          <p:cNvSpPr>
            <a:spLocks noGrp="1"/>
          </p:cNvSpPr>
          <p:nvPr>
            <p:ph type="sldNum" sz="quarter" idx="12"/>
          </p:nvPr>
        </p:nvSpPr>
        <p:spPr/>
        <p:txBody>
          <a:bodyPr/>
          <a:lstStyle/>
          <a:p>
            <a:fld id="{5F4C9F40-B079-4B71-A627-7266DFEA7F03}" type="slidenum">
              <a:rPr/>
              <a:t>‹#›</a:t>
            </a:fld>
            <a:endParaRPr dirty="0"/>
          </a:p>
        </p:txBody>
      </p:sp>
      <p:sp>
        <p:nvSpPr>
          <p:cNvPr id="3" name="Footer Placeholder 2"/>
          <p:cNvSpPr>
            <a:spLocks noGrp="1"/>
          </p:cNvSpPr>
          <p:nvPr>
            <p:ph type="ftr" sz="quarter" idx="11"/>
          </p:nvPr>
        </p:nvSpPr>
        <p:spPr/>
        <p:txBody>
          <a:bodyPr/>
          <a:lstStyle/>
          <a:p>
            <a:endParaRPr dirty="0"/>
          </a:p>
        </p:txBody>
      </p:sp>
      <p:sp>
        <p:nvSpPr>
          <p:cNvPr id="2" name="Date Placeholder 3"/>
          <p:cNvSpPr>
            <a:spLocks noGrp="1"/>
          </p:cNvSpPr>
          <p:nvPr>
            <p:ph type="dt" sz="half" idx="10"/>
          </p:nvPr>
        </p:nvSpPr>
        <p:spPr/>
        <p:txBody>
          <a:bodyPr/>
          <a:lstStyle/>
          <a:p>
            <a:fld id="{0402902D-A5F5-4D7D-AAA7-32469BA0BC4D}" type="datetimeFigureOut">
              <a:rPr lang="en-US"/>
              <a:t>8/21/2021</a:t>
            </a:fld>
            <a:endParaRPr dirty="0"/>
          </a:p>
        </p:txBody>
      </p:sp>
    </p:spTree>
    <p:extLst>
      <p:ext uri="{BB962C8B-B14F-4D97-AF65-F5344CB8AC3E}">
        <p14:creationId xmlns:p14="http://schemas.microsoft.com/office/powerpoint/2010/main" val="2756335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3" name="Rectangle 12"/>
          <p:cNvSpPr/>
          <p:nvPr/>
        </p:nvSpPr>
        <p:spPr bwMode="ltGray">
          <a:xfrm>
            <a:off x="0" y="0"/>
            <a:ext cx="4267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9" name="Straight Connector 8"/>
          <p:cNvCxnSpPr/>
          <p:nvPr/>
        </p:nvCxnSpPr>
        <p:spPr>
          <a:xfrm flipH="1">
            <a:off x="4267200" y="0"/>
            <a:ext cx="1" cy="685800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80519" y="465512"/>
            <a:ext cx="3506162" cy="1600200"/>
          </a:xfrm>
        </p:spPr>
        <p:txBody>
          <a:bodyPr anchor="t">
            <a:normAutofit/>
          </a:bodyPr>
          <a:lstStyle>
            <a:lvl1pPr>
              <a:defRPr sz="2800" b="0"/>
            </a:lvl1pPr>
          </a:lstStyle>
          <a:p>
            <a:r>
              <a:rPr lang="en-US"/>
              <a:t>Click to edit Master title style</a:t>
            </a:r>
            <a:endParaRPr/>
          </a:p>
        </p:txBody>
      </p:sp>
      <p:sp>
        <p:nvSpPr>
          <p:cNvPr id="4" name="Text Placeholder 3"/>
          <p:cNvSpPr>
            <a:spLocks noGrp="1"/>
          </p:cNvSpPr>
          <p:nvPr>
            <p:ph type="body" sz="half" idx="2"/>
          </p:nvPr>
        </p:nvSpPr>
        <p:spPr>
          <a:xfrm>
            <a:off x="380519" y="2300514"/>
            <a:ext cx="3506162" cy="3871686"/>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Content Placeholder 2"/>
          <p:cNvSpPr>
            <a:spLocks noGrp="1"/>
          </p:cNvSpPr>
          <p:nvPr>
            <p:ph idx="1"/>
          </p:nvPr>
        </p:nvSpPr>
        <p:spPr>
          <a:xfrm>
            <a:off x="4699000" y="465513"/>
            <a:ext cx="7048500" cy="5935287"/>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3002018232"/>
      </p:ext>
    </p:extLst>
  </p:cSld>
  <p:clrMapOvr>
    <a:masterClrMapping/>
  </p:clrMapOvr>
  <p:extLst>
    <p:ext uri="{DCECCB84-F9BA-43D5-87BE-67443E8EF086}">
      <p15:sldGuideLst xmlns:p15="http://schemas.microsoft.com/office/powerpoint/2012/main">
        <p15:guide id="1" pos="2688">
          <p15:clr>
            <a:srgbClr val="FBAE40"/>
          </p15:clr>
        </p15:guide>
        <p15:guide id="2" orient="horz" pos="288">
          <p15:clr>
            <a:srgbClr val="FBAE40"/>
          </p15:clr>
        </p15:guide>
        <p15:guide id="3" orient="horz" pos="4032">
          <p15:clr>
            <a:srgbClr val="FBAE40"/>
          </p15:clr>
        </p15:guide>
        <p15:guide id="4" pos="29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bwMode="ltGray">
          <a:xfrm>
            <a:off x="6096000" y="0"/>
            <a:ext cx="608572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6356677" y="410685"/>
            <a:ext cx="5594133" cy="687542"/>
          </a:xfrm>
        </p:spPr>
        <p:txBody>
          <a:bodyPr anchor="t">
            <a:normAutofit/>
          </a:bodyPr>
          <a:lstStyle>
            <a:lvl1pPr>
              <a:defRPr sz="2800" b="0"/>
            </a:lvl1pPr>
          </a:lstStyle>
          <a:p>
            <a:r>
              <a:rPr lang="en-US" dirty="0"/>
              <a:t>Click to edit Master title style</a:t>
            </a:r>
            <a:endParaRPr dirty="0"/>
          </a:p>
        </p:txBody>
      </p:sp>
      <p:sp>
        <p:nvSpPr>
          <p:cNvPr id="4" name="Text Placeholder 3"/>
          <p:cNvSpPr>
            <a:spLocks noGrp="1"/>
          </p:cNvSpPr>
          <p:nvPr>
            <p:ph type="body" sz="half" idx="2"/>
          </p:nvPr>
        </p:nvSpPr>
        <p:spPr>
          <a:xfrm>
            <a:off x="6356677" y="1425372"/>
            <a:ext cx="5835322" cy="5021943"/>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349856" y="222637"/>
            <a:ext cx="5472503" cy="6512118"/>
          </a:xfrm>
        </p:spPr>
        <p:txBody>
          <a:bodyPr tIns="73152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cxnSp>
        <p:nvCxnSpPr>
          <p:cNvPr id="7" name="Straight Connector 6">
            <a:extLst>
              <a:ext uri="{FF2B5EF4-FFF2-40B4-BE49-F238E27FC236}">
                <a16:creationId xmlns:a16="http://schemas.microsoft.com/office/drawing/2014/main" id="{EBCADFC3-556B-464A-B678-D6E268446136}"/>
              </a:ext>
            </a:extLst>
          </p:cNvPr>
          <p:cNvCxnSpPr/>
          <p:nvPr userDrawn="1"/>
        </p:nvCxnSpPr>
        <p:spPr>
          <a:xfrm flipH="1">
            <a:off x="6075294" y="0"/>
            <a:ext cx="1" cy="685800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938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3"/>
          <p:cNvSpPr>
            <a:spLocks noGrp="1"/>
          </p:cNvSpPr>
          <p:nvPr>
            <p:ph type="sldNum" sz="quarter" idx="12"/>
          </p:nvPr>
        </p:nvSpPr>
        <p:spPr/>
        <p:txBody>
          <a:bodyPr/>
          <a:lstStyle/>
          <a:p>
            <a:fld id="{5F4C9F40-B079-4B71-A627-7266DFEA7F03}" type="slidenum">
              <a:rPr/>
              <a:t>‹#›</a:t>
            </a:fld>
            <a:endParaRPr/>
          </a:p>
        </p:txBody>
      </p:sp>
      <p:sp>
        <p:nvSpPr>
          <p:cNvPr id="5" name="Footer Placeholder 4"/>
          <p:cNvSpPr>
            <a:spLocks noGrp="1"/>
          </p:cNvSpPr>
          <p:nvPr>
            <p:ph type="ftr" sz="quarter" idx="11"/>
          </p:nvPr>
        </p:nvSpPr>
        <p:spPr/>
        <p:txBody>
          <a:bodyPr/>
          <a:lstStyle/>
          <a:p>
            <a:endParaRPr/>
          </a:p>
        </p:txBody>
      </p:sp>
      <p:sp>
        <p:nvSpPr>
          <p:cNvPr id="4"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322155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a:off x="9310254" y="0"/>
            <a:ext cx="288174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8" name="Straight Connector 7"/>
          <p:cNvCxnSpPr/>
          <p:nvPr/>
        </p:nvCxnSpPr>
        <p:spPr>
          <a:xfrm flipH="1">
            <a:off x="9310254" y="0"/>
            <a:ext cx="1" cy="685800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9486900" y="685800"/>
            <a:ext cx="2324100" cy="5486399"/>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199" y="685800"/>
            <a:ext cx="8105775" cy="54863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3"/>
          <p:cNvSpPr>
            <a:spLocks noGrp="1"/>
          </p:cNvSpPr>
          <p:nvPr>
            <p:ph type="sldNum" sz="quarter" idx="12"/>
          </p:nvPr>
        </p:nvSpPr>
        <p:spPr/>
        <p:txBody>
          <a:bodyPr/>
          <a:lstStyle/>
          <a:p>
            <a:fld id="{5F4C9F40-B079-4B71-A627-7266DFEA7F03}" type="slidenum">
              <a:rPr/>
              <a:t>‹#›</a:t>
            </a:fld>
            <a:endParaRPr/>
          </a:p>
        </p:txBody>
      </p:sp>
      <p:sp>
        <p:nvSpPr>
          <p:cNvPr id="5" name="Footer Placeholder 4"/>
          <p:cNvSpPr>
            <a:spLocks noGrp="1"/>
          </p:cNvSpPr>
          <p:nvPr>
            <p:ph type="ftr" sz="quarter" idx="11"/>
          </p:nvPr>
        </p:nvSpPr>
        <p:spPr/>
        <p:txBody>
          <a:bodyPr/>
          <a:lstStyle/>
          <a:p>
            <a:endParaRPr/>
          </a:p>
        </p:txBody>
      </p:sp>
      <p:sp>
        <p:nvSpPr>
          <p:cNvPr id="4"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862647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92000"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bwMode="auto">
          <a:xfrm>
            <a:off x="1066800" y="127000"/>
            <a:ext cx="10058400" cy="1097280"/>
          </a:xfrm>
          <a:prstGeom prst="rect">
            <a:avLst/>
          </a:prstGeom>
        </p:spPr>
        <p:txBody>
          <a:bodyPr vert="horz" lIns="91440" tIns="45720" rIns="91440" bIns="45720" rtlCol="0" anchor="ctr">
            <a:normAutofit/>
          </a:bodyPr>
          <a:lstStyle/>
          <a:p>
            <a:r>
              <a:rPr lang="en-US" dirty="0"/>
              <a:t>Click to edit Master title style</a:t>
            </a:r>
            <a:endParaRPr dirty="0"/>
          </a:p>
        </p:txBody>
      </p:sp>
      <p:cxnSp>
        <p:nvCxnSpPr>
          <p:cNvPr id="9" name="Straight Connector 8"/>
          <p:cNvCxnSpPr/>
          <p:nvPr/>
        </p:nvCxnSpPr>
        <p:spPr>
          <a:xfrm>
            <a:off x="0" y="13716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1066800" y="1714500"/>
            <a:ext cx="10058400" cy="44577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85724" y="6394450"/>
            <a:ext cx="523875" cy="274320"/>
          </a:xfrm>
          <a:prstGeom prst="rect">
            <a:avLst/>
          </a:prstGeom>
        </p:spPr>
        <p:txBody>
          <a:bodyPr vert="horz" lIns="91440" tIns="45720" rIns="91440" bIns="45720" rtlCol="0" anchor="ctr"/>
          <a:lstStyle>
            <a:lvl1pPr algn="r">
              <a:defRPr sz="1200">
                <a:solidFill>
                  <a:schemeClr val="tx1">
                    <a:lumMod val="50000"/>
                  </a:schemeClr>
                </a:solidFill>
              </a:defRPr>
            </a:lvl1pPr>
          </a:lstStyle>
          <a:p>
            <a:fld id="{5F4C9F40-B079-4B71-A627-7266DFEA7F03}" type="slidenum">
              <a:rPr/>
              <a:pPr/>
              <a:t>‹#›</a:t>
            </a:fld>
            <a:endParaRPr/>
          </a:p>
        </p:txBody>
      </p:sp>
      <p:sp>
        <p:nvSpPr>
          <p:cNvPr id="5" name="Footer Placeholder 4"/>
          <p:cNvSpPr>
            <a:spLocks noGrp="1"/>
          </p:cNvSpPr>
          <p:nvPr>
            <p:ph type="ftr" sz="quarter" idx="3"/>
          </p:nvPr>
        </p:nvSpPr>
        <p:spPr>
          <a:xfrm>
            <a:off x="809625" y="6394450"/>
            <a:ext cx="8134350" cy="274320"/>
          </a:xfrm>
          <a:prstGeom prst="rect">
            <a:avLst/>
          </a:prstGeom>
        </p:spPr>
        <p:txBody>
          <a:bodyPr vert="horz" lIns="91440" tIns="45720" rIns="91440" bIns="45720" rtlCol="0" anchor="ctr"/>
          <a:lstStyle>
            <a:lvl1pPr algn="l">
              <a:defRPr sz="1200">
                <a:solidFill>
                  <a:schemeClr val="tx1">
                    <a:lumMod val="50000"/>
                  </a:schemeClr>
                </a:solidFill>
              </a:defRPr>
            </a:lvl1pPr>
          </a:lstStyle>
          <a:p>
            <a:endParaRPr dirty="0"/>
          </a:p>
        </p:txBody>
      </p:sp>
      <p:sp>
        <p:nvSpPr>
          <p:cNvPr id="4" name="Date Placeholder 3"/>
          <p:cNvSpPr>
            <a:spLocks noGrp="1"/>
          </p:cNvSpPr>
          <p:nvPr>
            <p:ph type="dt" sz="half" idx="2"/>
          </p:nvPr>
        </p:nvSpPr>
        <p:spPr>
          <a:xfrm>
            <a:off x="9486900" y="6394450"/>
            <a:ext cx="2324100" cy="274320"/>
          </a:xfrm>
          <a:prstGeom prst="rect">
            <a:avLst/>
          </a:prstGeom>
        </p:spPr>
        <p:txBody>
          <a:bodyPr vert="horz" lIns="91440" tIns="45720" rIns="91440" bIns="45720" rtlCol="0" anchor="ctr"/>
          <a:lstStyle>
            <a:lvl1pPr algn="r">
              <a:defRPr sz="1200">
                <a:solidFill>
                  <a:schemeClr val="tx1">
                    <a:lumMod val="50000"/>
                  </a:schemeClr>
                </a:solidFill>
              </a:defRPr>
            </a:lvl1pPr>
          </a:lstStyle>
          <a:p>
            <a:fld id="{0402902D-A5F5-4D7D-AAA7-32469BA0BC4D}" type="datetimeFigureOut">
              <a:rPr lang="en-US"/>
              <a:pPr/>
              <a:t>8/21/2021</a:t>
            </a:fld>
            <a:endParaRPr dirty="0"/>
          </a:p>
        </p:txBody>
      </p:sp>
    </p:spTree>
    <p:extLst>
      <p:ext uri="{BB962C8B-B14F-4D97-AF65-F5344CB8AC3E}">
        <p14:creationId xmlns:p14="http://schemas.microsoft.com/office/powerpoint/2010/main" val="127595847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400" kern="1200">
          <a:solidFill>
            <a:schemeClr val="tx1"/>
          </a:solidFill>
          <a:latin typeface="+mj-lt"/>
          <a:ea typeface="+mj-ea"/>
          <a:cs typeface="+mj-cs"/>
        </a:defRPr>
      </a:lvl1pPr>
    </p:titleStyle>
    <p:bodyStyle>
      <a:lvl1pPr marL="274320" indent="-274320" algn="l" defTabSz="914400" rtl="0" eaLnBrk="1" latinLnBrk="0" hangingPunct="1">
        <a:spcBef>
          <a:spcPts val="2200"/>
        </a:spcBef>
        <a:buClr>
          <a:schemeClr val="tx1">
            <a:lumMod val="65000"/>
          </a:schemeClr>
        </a:buClr>
        <a:buFont typeface="Arial" pitchFamily="34" charset="0"/>
        <a:buChar char="•"/>
        <a:defRPr sz="2200" kern="1200">
          <a:solidFill>
            <a:schemeClr val="tx1"/>
          </a:solidFill>
          <a:latin typeface="+mn-lt"/>
          <a:ea typeface="+mn-ea"/>
          <a:cs typeface="+mn-cs"/>
        </a:defRPr>
      </a:lvl1pPr>
      <a:lvl2pPr marL="594360" indent="-274320" algn="l" defTabSz="914400" rtl="0" eaLnBrk="1" latinLnBrk="0" hangingPunct="1">
        <a:spcBef>
          <a:spcPts val="1600"/>
        </a:spcBef>
        <a:buClr>
          <a:schemeClr val="tx1">
            <a:lumMod val="65000"/>
          </a:schemeClr>
        </a:buClr>
        <a:buFont typeface="Arial" pitchFamily="34" charset="0"/>
        <a:buChar char="•"/>
        <a:defRPr sz="2000" kern="1200">
          <a:solidFill>
            <a:schemeClr val="tx1"/>
          </a:solidFill>
          <a:latin typeface="+mn-lt"/>
          <a:ea typeface="+mn-ea"/>
          <a:cs typeface="+mn-cs"/>
        </a:defRPr>
      </a:lvl2pPr>
      <a:lvl3pPr marL="868680" indent="-228600" algn="l" defTabSz="914400" rtl="0" eaLnBrk="1" latinLnBrk="0" hangingPunct="1">
        <a:spcBef>
          <a:spcPts val="1200"/>
        </a:spcBef>
        <a:buClr>
          <a:schemeClr val="tx1">
            <a:lumMod val="65000"/>
          </a:schemeClr>
        </a:buClr>
        <a:buFont typeface="Arial" pitchFamily="34" charset="0"/>
        <a:buChar char="•"/>
        <a:defRPr sz="1800" kern="1200">
          <a:solidFill>
            <a:schemeClr val="tx1"/>
          </a:solidFill>
          <a:latin typeface="+mn-lt"/>
          <a:ea typeface="+mn-ea"/>
          <a:cs typeface="+mn-cs"/>
        </a:defRPr>
      </a:lvl3pPr>
      <a:lvl4pPr marL="1188720" indent="-228600" algn="l" defTabSz="914400" rtl="0" eaLnBrk="1" latinLnBrk="0" hangingPunct="1">
        <a:spcBef>
          <a:spcPts val="1000"/>
        </a:spcBef>
        <a:buClr>
          <a:schemeClr val="tx1">
            <a:lumMod val="65000"/>
          </a:schemeClr>
        </a:buClr>
        <a:buFont typeface="Arial" pitchFamily="34" charset="0"/>
        <a:buChar char="•"/>
        <a:defRPr sz="1600" kern="1200">
          <a:solidFill>
            <a:schemeClr val="tx1"/>
          </a:solidFill>
          <a:latin typeface="+mn-lt"/>
          <a:ea typeface="+mn-ea"/>
          <a:cs typeface="+mn-cs"/>
        </a:defRPr>
      </a:lvl4pPr>
      <a:lvl5pPr marL="1417320" indent="-228600" algn="l" defTabSz="914400" rtl="0" eaLnBrk="1" latinLnBrk="0" hangingPunct="1">
        <a:spcBef>
          <a:spcPts val="800"/>
        </a:spcBef>
        <a:buClr>
          <a:schemeClr val="tx1">
            <a:lumMod val="65000"/>
          </a:schemeClr>
        </a:buClr>
        <a:buFont typeface="Arial" pitchFamily="34" charset="0"/>
        <a:buChar char="•"/>
        <a:defRPr sz="1600" kern="1200">
          <a:solidFill>
            <a:schemeClr val="tx1"/>
          </a:solidFill>
          <a:latin typeface="+mn-lt"/>
          <a:ea typeface="+mn-ea"/>
          <a:cs typeface="+mn-cs"/>
        </a:defRPr>
      </a:lvl5pPr>
      <a:lvl6pPr marL="16459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6pPr>
      <a:lvl7pPr marL="18745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7pPr>
      <a:lvl8pPr marL="21031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8pPr>
      <a:lvl9pPr marL="23317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rel:Relationships xmlns:rel="http://schemas.openxmlformats.org/package/2006/relationships"><rel:Relationship Id="rId2" Type="http://schemas.openxmlformats.org/officeDocument/2006/relationships/notesSlide" Target="../notesSlides/notesSlide2.xml" /><rel:Relationship Id="rId1" Type="http://schemas.openxmlformats.org/officeDocument/2006/relationships/slideLayout" Target="../slideLayouts/slideLayout2.xml" /><Relationship Id="rId3" Type="http://schemas.openxmlformats.org/officeDocument/2006/relationships/image" Target="../media/Science.jpg" /><Relationship Id="rId4" Type="http://schemas.openxmlformats.org/officeDocument/2006/relationships/image" Target="../media/Technology.jpg" /><Relationship Id="rId5" Type="http://schemas.openxmlformats.org/officeDocument/2006/relationships/image" Target="../media/Engineering.jpg" /><Relationship Id="rId6" Type="http://schemas.openxmlformats.org/officeDocument/2006/relationships/image" Target="../media/Math.jpg" /></re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rel:Relationships xmlns:rel="http://schemas.openxmlformats.org/package/2006/relationships"><rel:Relationship Id="rId2" Type="http://schemas.openxmlformats.org/officeDocument/2006/relationships/notesSlide" Target="../notesSlides/notesSlide4.xml" /><rel:Relationship Id="rId1" Type="http://schemas.openxmlformats.org/officeDocument/2006/relationships/slideLayout" Target="../slideLayouts/slideLayout6.xml" /><Relationship Id="rId3" Type="http://schemas.openxmlformats.org/officeDocument/2006/relationships/image" Target="../media/WorldMap.jpg" /></rel:Relationships>
</file>

<file path=ppt/slides/_rels/slide5.xml.rels><?xml version='1.0' encoding='UTF-8'?>
<rel:Relationships xmlns:rel="http://schemas.openxmlformats.org/package/2006/relationships"><rel:Relationship Id="rId2" Type="http://schemas.openxmlformats.org/officeDocument/2006/relationships/notesSlide" Target="../notesSlides/notesSlide5.xml" /><rel:Relationship Id="rId1" Type="http://schemas.openxmlformats.org/officeDocument/2006/relationships/slideLayout" Target="../slideLayouts/slideLayout2.xml" /><Relationship Id="rId3" Type="http://schemas.openxmlformats.org/officeDocument/2006/relationships/chart" Target="../charts/chart1.xml" /></re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rel:Relationships xmlns:rel="http://schemas.openxmlformats.org/package/2006/relationships"><rel:Relationship Id="rId2" Type="http://schemas.openxmlformats.org/officeDocument/2006/relationships/notesSlide" Target="../notesSlides/notesSlide8.xml" /><rel:Relationship Id="rId1" Type="http://schemas.openxmlformats.org/officeDocument/2006/relationships/slideLayout" Target="../slideLayouts/slideLayout9.xml" /><Relationship Id="rId3" Type="http://schemas.openxmlformats.org/officeDocument/2006/relationships/image" Target="../media/Microscope.jpg" /></re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rel:Relationships xmlns:rel="http://schemas.openxmlformats.org/package/2006/relationships"><rel:Relationship Id="rId2" Type="http://schemas.openxmlformats.org/officeDocument/2006/relationships/notesSlide" Target="../notesSlides/notesSlide10.xml" /><rel:Relationship Id="rId1" Type="http://schemas.openxmlformats.org/officeDocument/2006/relationships/slideLayout" Target="../slideLayouts/slideLayout4.xml" /><Relationship Id="rId3" Type="http://schemas.openxmlformats.org/officeDocument/2006/relationships/image" Target="../media/ElementarySchool.jpg" /><Relationship Id="rId4" Type="http://schemas.openxmlformats.org/officeDocument/2006/relationships/image" Target="../media/ElementarySchool2.jpg" /></rel:Relationships>
</file>

<file path=ppt/slides/_rels/slide11.xml.rels><?xml version='1.0' encoding='UTF-8'?>
<rel:Relationships xmlns:rel="http://schemas.openxmlformats.org/package/2006/relationships"><rel:Relationship Id="rId2" Type="http://schemas.openxmlformats.org/officeDocument/2006/relationships/notesSlide" Target="../notesSlides/notesSlide11.xml" /><rel:Relationship Id="rId1" Type="http://schemas.openxmlformats.org/officeDocument/2006/relationships/slideLayout" Target="../slideLayouts/slideLayout2.xml" /><Relationship Id="rId3" Type="http://schemas.openxmlformats.org/officeDocument/2006/relationships/image" Target="../media/MiddleSchool.jpg" /></rel:Relationships>
</file>

<file path=ppt/slides/_rels/slide12.xml.rels><?xml version='1.0' encoding='UTF-8'?>
<rel:Relationships xmlns:rel="http://schemas.openxmlformats.org/package/2006/relationships"><rel:Relationship Id="rId2" Type="http://schemas.openxmlformats.org/officeDocument/2006/relationships/notesSlide" Target="../notesSlides/notesSlide12.xml" /><rel:Relationship Id="rId1" Type="http://schemas.openxmlformats.org/officeDocument/2006/relationships/slideLayout" Target="../slideLayouts/slideLayout2.xml" /><Relationship Id="rId3" Type="http://schemas.openxmlformats.org/officeDocument/2006/relationships/video" Target="../media/HSVideo.mp4" /></rel:Relationships>
</file>

<file path=ppt/slides/_rels/slide13.xml.rels><?xml version='1.0' encoding='UTF-8'?>
<rel:Relationships xmlns:rel="http://schemas.openxmlformats.org/package/2006/relationships"><rel:Relationship Id="rId2" Type="http://schemas.openxmlformats.org/officeDocument/2006/relationships/notesSlide" Target="../notesSlides/notesSlide13.xml" /><rel:Relationship Id="rId1" Type="http://schemas.openxmlformats.org/officeDocument/2006/relationships/slideLayout" Target="../slideLayouts/slideLayout2.xml" /><Relationship Id="rId3" Type="http://schemas.openxmlformats.org/officeDocument/2006/relationships/package" Target="../embeddings/StemData.xlsx" /></re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sld xmlns="http://schemas.openxmlformats.org/presentationml/2006/main" xmlns:a="http://schemas.openxmlformats.org/drawingml/2006/main" xmlns:a14="http://schemas.microsoft.com/office/drawing/2010/main" xmlns:a16="http://schemas.microsoft.com/office/drawing/2014/main" xmlns:ns5="http://schemas.microsoft.com/office/drawing/2016/SVG/main" xmlns:p14="http://schemas.microsoft.com/office/powerpoint/2010/main" xmlns:r="http://schemas.openxmlformats.org/officeDocument/2006/relationships">
  <cSld>
    <spTree>
      <nvGrpSpPr>
        <cNvPr id="1" name="" descr="MDBBI/YBEq+kb3SvgOjDP7bUH/g4Nr91+t7GXJ7EOj+rJZw7+ZkKzOuXK2B+prnZPCV+2Lkz+cIJ0aPjM8ZSk0nv5jP92+4I-~jyg9mE70j9QLAtqKPLemrQ=="/>
        <cNvGrpSpPr/>
        <nvPr/>
      </nvGrpSpPr>
      <grpSpPr>
        <a:xfrm>
          <a:off x="0" y="0"/>
          <a:ext cx="0" cy="0"/>
          <a:chOff x="0" y="0"/>
          <a:chExt cx="0" cy="0"/>
        </a:xfrm>
      </grpSpPr>
      <sp>
        <nvSpPr>
          <cNvPr id="2" name="Title 1" descr="zp4U92gZU8Ind67xdaXxdUTeHc8O3Z0kbbgaAPb8CFtpLSExWqke4Q/iVH2FkmbDCeZjWDL+WFMpW5L58Vr0KqF/E0qaC6cL-~8leN60J0fUNSOdeC0rz8AA=="/>
          <cNvSpPr>
            <a:spLocks noGrp="1"/>
          </cNvSpPr>
          <nvPr>
            <ph type="ctrTitle"/>
          </nvPr>
        </nvSpPr>
        <spPr>
          <a:xfrm>
            <a:off x="1514358" y="4740333"/>
            <a:ext cx="10068041" cy="1263534"/>
          </a:xfrm>
        </spPr>
        <txBody>
          <a:bodyPr>
            <a:normAutofit/>
          </a:bodyPr>
          <a:lstStyle/>
          <a:p>
            <a:r>
              <a:rPr lang="en-US" sz="8000" dirty="0">
                <a:solidFill>
                  <a:schemeClr val="accent3"/>
                </a:solidFill>
              </a:rPr>
              <a:t>S</a:t>
            </a:r>
            <a:r>
              <a:rPr lang="en-US" sz="8000" dirty="0">
                <a:solidFill>
                  <a:schemeClr val="accent1"/>
                </a:solidFill>
              </a:rPr>
              <a:t>T</a:t>
            </a:r>
            <a:r>
              <a:rPr lang="en-US" sz="8000" dirty="0">
                <a:solidFill>
                  <a:schemeClr val="accent2"/>
                </a:solidFill>
              </a:rPr>
              <a:t>E</a:t>
            </a:r>
            <a:r>
              <a:rPr lang="en-US" sz="8000" dirty="0">
                <a:solidFill>
                  <a:schemeClr val="accent4"/>
                </a:solidFill>
              </a:rPr>
              <a:t>M</a:t>
            </a:r>
            <a:r>
              <a:rPr lang="en-US" sz="8000" dirty="0"/>
              <a:t> Education</a:t>
            </a:r>
          </a:p>
        </txBody>
      </sp>
      <sp>
        <nvSpPr>
          <cNvPr id="3" name="Subtitle 2" descr="5++rJOsp+PMGYcdHadf99LQk66CQPBj4MC0HhdtAx4rlZf8iBjC813LMVODzVqp9UETuAGXSQDGY7LOoGehpAvgyHKKqK79G-~om4EsvBFekLmX2+AGfBUhw=="/>
          <cNvSpPr>
            <a:spLocks noGrp="1"/>
          </cNvSpPr>
          <nvPr>
            <ph type="subTitle" idx="1"/>
          </nvPr>
        </nvSpPr>
        <spPr>
          <a:xfrm>
            <a:off x="1514358" y="6286500"/>
            <a:ext cx="10068042" cy="571500"/>
          </a:xfrm>
        </spPr>
        <txBody>
          <a:bodyPr/>
          <a:lstStyle/>
          <a:p>
            <a:r>
              <a:rPr lang="en-US" dirty="0">
                <a:solidFill>
                  <a:schemeClr val="tx1">
                    <a:lumMod val="95000"/>
                  </a:schemeClr>
                </a:solidFill>
              </a:rPr>
              <a:t>Student Name</a:t>
            </a:r>
          </a:p>
        </txBody>
      </sp>
      <grpSp>
        <nvGrpSpPr>
          <cNvPr id="200" name="Group 1"/>
          <cNvGrpSpPr/>
          <nvPr/>
        </nvGrpSpPr>
        <grpSpPr>
          <a:xfrm>
            <a:off x="0" y="0"/>
            <a:ext cx="0" cy="0"/>
            <a:chOff x="0" y="0"/>
            <a:chExt cx="0" cy="0"/>
          </a:xfrm>
        </grpSpPr>
        <sp>
          <nvSpPr>
            <cNvPr id="8" name="Oval 7" descr="uMnzCaDLWpvJ4HK/9MwxRVzn/71Cx+GwSFyX/kfF+FQ+hNJeWUWLhjd5iJAemMJYKtm9NHxalfoy2mTHRkekEunK/pvwLkUd-~M80Y/KzDZfhlZfX081ehZg==">
              <a:extLst>
                <a:ext uri="{FF2B5EF4-FFF2-40B4-BE49-F238E27FC236}">
                  <a16:creationId id="{810AAE8B-4AD7-40BE-B3AE-DAA149ED530C}"/>
                </a:ext>
              </a:extLst>
            </cNvPr>
            <cNvSpPr/>
            <nvPr/>
          </nvSpPr>
          <spPr>
            <a:xfrm>
              <a:off x="3819988" y="2208570"/>
              <a:ext cx="1645920" cy="1737360"/>
            </a:xfrm>
            <a:prstGeom prst="ellipse">
              <a:avLst/>
            </a:prstGeom>
            <a:ln>
              <a:noFill/>
            </a:ln>
          </spPr>
          <style>
            <a:lnRef idx="2">
              <a:schemeClr val="accent1">
                <a:shade val="50000"/>
              </a:schemeClr>
            </a:lnRef>
            <a:fillRef idx="1">
              <a:schemeClr val="accent1"/>
            </a:fillRef>
            <a:effectRef idx="0">
              <a:schemeClr val="accent1"/>
            </a:effectRef>
            <a:fontRef idx="minor">
              <a:schemeClr val="lt1"/>
            </a:fontRef>
          </style>
          <txBody>
            <a:bodyPr rtlCol="0" anchor="ctr"/>
            <a:lstStyle/>
            <a:p>
              <a:pPr algn="ctr"/>
              <a:endParaRPr lang="en-US"/>
            </a:p>
          </txBody>
        </sp>
        <pic>
          <nvPicPr>
            <cNvPr id="7" name="Graphic 6#@#BzxxYbTyL74/u0KCN0nZiYU7pki0EJO2Epw3YL9n+tVN2yZLFPnfLFKWclBu0iKI10pWb7//jJzkPK+gcLsLh8n9eNRGjpcb-~j1F/0/fseB7hg64trBYBiA==" descr="Television">
              <a:extLst>
                <a:ext uri="{FF2B5EF4-FFF2-40B4-BE49-F238E27FC236}">
                  <a16:creationId id="{E6BA501C-2C2D-4DCF-B8EF-8778549D308C}"/>
                </a:ext>
              </a:extLst>
            </cNvPr>
            <cNvPicPr>
              <a:picLocks noChangeAspect="1"/>
            </cNvPicPr>
            <nvPr/>
          </nvPicPr>
          <blipFill>
            <a:blip r:embed="rId3">
              <a:extLst>
                <a:ext uri="{28A0092B-C50C-407E-A947-70E740481C1C}">
                  <a14:useLocalDpi val="0"/>
                </a:ext>
                <a:ext uri="{96DAC541-7B7A-43D3-8B79-37D633B846F1}">
                  <ns5:svgBlip r:embed="rId4"/>
                </a:ext>
              </a:extLst>
            </a:blip>
            <a:stretch>
              <a:fillRect/>
            </a:stretch>
          </blipFill>
          <spPr>
            <a:xfrm>
              <a:off x="4146489" y="2597531"/>
              <a:ext cx="992919" cy="959438"/>
            </a:xfrm>
            <a:prstGeom prst="rect">
              <a:avLst/>
            </a:prstGeom>
          </spPr>
        </pic>
      </grpSp>
      <grpSp>
        <nvGrpSpPr>
          <cNvPr id="201" name="Group 2"/>
          <cNvGrpSpPr/>
          <nvPr/>
        </nvGrpSpPr>
        <grpSpPr>
          <a:xfrm>
            <a:off x="0" y="0"/>
            <a:ext cx="0" cy="0"/>
            <a:chOff x="0" y="0"/>
            <a:chExt cx="0" cy="0"/>
          </a:xfrm>
        </grpSpPr>
        <sp>
          <nvSpPr>
            <cNvPr id="9" name="Oval 8" descr="X92A7ozHm3Y3ai70fPQmiL3TEg8tvmgiozNw8kIEkbYhDnt5h6g3CFTBcdiL2LAy2eC0BaZDRanANyVck10GZ8fszLR8gvle-~wMzWtj5edMshSIWnr+wMjw==">
              <a:extLst>
                <a:ext uri="{FF2B5EF4-FFF2-40B4-BE49-F238E27FC236}">
                  <a16:creationId id="{A176A567-802A-4991-A6F8-F7E70F2BD76F}"/>
                </a:ext>
              </a:extLst>
            </cNvPr>
            <cNvSpPr/>
            <nvPr/>
          </nvSpPr>
          <spPr>
            <a:xfrm>
              <a:off x="1514359" y="2208570"/>
              <a:ext cx="1645920" cy="1737360"/>
            </a:xfrm>
            <a:prstGeom prst="ellipse">
              <a:avLst/>
            </a:prstGeom>
            <a:ln>
              <a:noFill/>
            </a:ln>
          </spPr>
          <style>
            <a:lnRef idx="3">
              <a:schemeClr val="lt1"/>
            </a:lnRef>
            <a:fillRef idx="1">
              <a:schemeClr val="accent3"/>
            </a:fillRef>
            <a:effectRef idx="1">
              <a:schemeClr val="accent3"/>
            </a:effectRef>
            <a:fontRef idx="minor">
              <a:schemeClr val="lt1"/>
            </a:fontRef>
          </style>
          <txBody>
            <a:bodyPr rtlCol="0" anchor="ctr"/>
            <a:lstStyle/>
            <a:p>
              <a:pPr algn="ctr"/>
              <a:endParaRPr lang="en-US">
                <a:solidFill>
                  <a:schemeClr val="accent3"/>
                </a:solidFill>
              </a:endParaRPr>
            </a:p>
          </txBody>
        </sp>
        <pic>
          <nvPicPr>
            <cNvPr id="11" name="Graphic 10#@#mu8zvnSkgBxnj/S15pap0O1t7OiWox7A3gGODzhtPrkSPQumDmIJwdpDJQi7EPVzYzlFZHpafrjuiHl6vAE1pC7qa7a3G84P-~f5RdOrhDoKVjUjY2z4bqhg==" descr="Flask">
              <a:extLst>
                <a:ext uri="{FF2B5EF4-FFF2-40B4-BE49-F238E27FC236}">
                  <a16:creationId id="{3FA312EB-2A59-4EC4-A5C0-C331D74F1167}"/>
                </a:ext>
              </a:extLst>
            </cNvPr>
            <cNvPicPr>
              <a:picLocks noChangeAspect="1"/>
            </cNvPicPr>
            <nvPr/>
          </nvPicPr>
          <blipFill>
            <a:blip r:embed="rId5">
              <a:extLst>
                <a:ext uri="{28A0092B-C50C-407E-A947-70E740481C1C}">
                  <a14:useLocalDpi val="0"/>
                </a:ext>
                <a:ext uri="{96DAC541-7B7A-43D3-8B79-37D633B846F1}">
                  <ns5:svgBlip r:embed="rId6"/>
                </a:ext>
              </a:extLst>
            </a:blip>
            <a:stretch>
              <a:fillRect/>
            </a:stretch>
          </blipFill>
          <spPr>
            <a:xfrm>
              <a:off x="1834151" y="2564815"/>
              <a:ext cx="992919" cy="959438"/>
            </a:xfrm>
            <a:prstGeom prst="rect">
              <a:avLst/>
            </a:prstGeom>
          </spPr>
        </pic>
      </grpSp>
      <grpSp>
        <nvGrpSpPr>
          <cNvPr id="202" name="Group 3"/>
          <cNvGrpSpPr/>
          <nvPr/>
        </nvGrpSpPr>
        <grpSpPr>
          <a:xfrm>
            <a:off x="0" y="0"/>
            <a:ext cx="0" cy="0"/>
            <a:chOff x="0" y="0"/>
            <a:chExt cx="0" cy="0"/>
          </a:xfrm>
        </grpSpPr>
        <sp>
          <nvSpPr>
            <cNvPr id="14" name="Oval 13" descr="m3zQz6nkrTKW+pGzWZabcb6EK5VaCrkJavgXysAfIwbL6GBKWSgo9z762j5GZ7YI05sXrYtsykKN3KmyxYSW6240cDT9S9FG-~9z0sF7n9shkiYBf4ERp/kQ==">
              <a:extLst>
                <a:ext uri="{FF2B5EF4-FFF2-40B4-BE49-F238E27FC236}">
                  <a16:creationId id="{D3EC288B-0D07-4E3A-BD5A-277546564D41}"/>
                </a:ext>
              </a:extLst>
            </cNvPr>
            <cNvSpPr/>
            <nvPr/>
          </nvSpPr>
          <spPr>
            <a:xfrm>
              <a:off x="5993454" y="2208570"/>
              <a:ext cx="1645920" cy="1737360"/>
            </a:xfrm>
            <a:prstGeom prst="ellipse">
              <a:avLst/>
            </a:prstGeom>
            <a:ln>
              <a:noFill/>
            </a:ln>
          </spPr>
          <style>
            <a:lnRef idx="3">
              <a:schemeClr val="lt1"/>
            </a:lnRef>
            <a:fillRef idx="1">
              <a:schemeClr val="accent2"/>
            </a:fillRef>
            <a:effectRef idx="1">
              <a:schemeClr val="accent2"/>
            </a:effectRef>
            <a:fontRef idx="minor">
              <a:schemeClr val="lt1"/>
            </a:fontRef>
          </style>
          <txBody>
            <a:bodyPr rtlCol="0" anchor="ctr"/>
            <a:lstStyle/>
            <a:p>
              <a:pPr algn="ctr"/>
              <a:endParaRPr lang="en-US">
                <a:solidFill>
                  <a:schemeClr val="accent3"/>
                </a:solidFill>
              </a:endParaRPr>
            </a:p>
          </txBody>
        </sp>
        <pic>
          <nvPicPr>
            <cNvPr id="13" name="Graphic 12#@#nO9zK21MJHod5juDmmTMJB6lfm/zFx2yrbqcqZtcnHdTAwCHV/NYOOReYSF2CTN6KmOvMcr6eEb/MwgJ8ZcJxxh5tTwrop3G-~5srFTnK+RdZJntX4GUdqZw==" descr="Satellite">
              <a:extLst>
                <a:ext uri="{FF2B5EF4-FFF2-40B4-BE49-F238E27FC236}">
                  <a16:creationId id="{B0060586-05C3-41A4-A59A-B7B4E0573974}"/>
                </a:ext>
              </a:extLst>
            </cNvPr>
            <cNvPicPr>
              <a:picLocks noChangeAspect="1"/>
            </cNvPicPr>
            <nvPr/>
          </nvPicPr>
          <blipFill>
            <a:blip r:embed="rId7">
              <a:extLst>
                <a:ext uri="{28A0092B-C50C-407E-A947-70E740481C1C}">
                  <a14:useLocalDpi val="0"/>
                </a:ext>
                <a:ext uri="{96DAC541-7B7A-43D3-8B79-37D633B846F1}">
                  <ns5:svgBlip r:embed="rId8"/>
                </a:ext>
              </a:extLst>
            </a:blip>
            <a:stretch>
              <a:fillRect/>
            </a:stretch>
          </blipFill>
          <spPr>
            <a:xfrm>
              <a:off x="6319954" y="2573087"/>
              <a:ext cx="992919" cy="959438"/>
            </a:xfrm>
            <a:prstGeom prst="rect">
              <a:avLst/>
            </a:prstGeom>
          </spPr>
        </pic>
      </grpSp>
      <grpSp>
        <nvGrpSpPr>
          <cNvPr id="203" name="Group 4"/>
          <cNvGrpSpPr/>
          <nvPr/>
        </nvGrpSpPr>
        <grpSpPr>
          <a:xfrm>
            <a:off x="0" y="0"/>
            <a:ext cx="0" cy="0"/>
            <a:chOff x="0" y="0"/>
            <a:chExt cx="0" cy="0"/>
          </a:xfrm>
        </grpSpPr>
        <sp>
          <nvSpPr>
            <cNvPr id="17" name="Oval 16" descr="peaPw8bCxTA36HO0YIGIRcPakaTGoGfR4NZiiXrLL2hV9SWWSuLtdSiq2v7e51bOzRfiG1Y7U0mINNMc6v5UaHtt+E3938J0-~IbfBT1pWj3dtotVqMTU4+Q==">
              <a:extLst>
                <a:ext uri="{FF2B5EF4-FFF2-40B4-BE49-F238E27FC236}">
                  <a16:creationId id="{F26967C6-D601-49EB-8DF5-994D6A2C5E8C}"/>
                </a:ext>
              </a:extLst>
            </cNvPr>
            <cNvSpPr/>
            <nvPr/>
          </nvSpPr>
          <spPr>
            <a:xfrm>
              <a:off x="8208763" y="2208570"/>
              <a:ext cx="1645920" cy="1737360"/>
            </a:xfrm>
            <a:prstGeom prst="ellipse">
              <a:avLst/>
            </a:prstGeom>
            <a:ln>
              <a:noFill/>
            </a:ln>
          </spPr>
          <style>
            <a:lnRef idx="3">
              <a:schemeClr val="lt1"/>
            </a:lnRef>
            <a:fillRef idx="1">
              <a:schemeClr val="accent4"/>
            </a:fillRef>
            <a:effectRef idx="1">
              <a:schemeClr val="accent4"/>
            </a:effectRef>
            <a:fontRef idx="minor">
              <a:schemeClr val="lt1"/>
            </a:fontRef>
          </style>
          <txBody>
            <a:bodyPr rtlCol="0" anchor="ctr"/>
            <a:lstStyle/>
            <a:p>
              <a:pPr algn="ctr"/>
              <a:endParaRPr lang="en-US">
                <a:solidFill>
                  <a:schemeClr val="accent3"/>
                </a:solidFill>
              </a:endParaRPr>
            </a:p>
          </txBody>
        </sp>
        <pic>
          <nvPicPr>
            <cNvPr id="16" name="Graphic 15#@#fPQWrFf6E1xSVBa7TFZ5wCAH2hXydqFjEkE32sIWJUnQ/FtZ7Vv5U7lKG22N1cwOeic1MtjO3GvYdh3aJuOM+Yghd1vCiknY-~zNhFX9BTOd+X7RU+iNmh0w==" descr="Playbook">
              <a:extLst>
                <a:ext uri="{FF2B5EF4-FFF2-40B4-BE49-F238E27FC236}">
                  <a16:creationId id="{90D31499-8E91-4415-A89E-D90AD20801D8}"/>
                </a:ext>
              </a:extLst>
            </cNvPr>
            <cNvPicPr>
              <a:picLocks noChangeAspect="1"/>
            </cNvPicPr>
            <nvPr/>
          </nvPicPr>
          <blipFill>
            <a:blip r:embed="rId9">
              <a:extLst>
                <a:ext uri="{28A0092B-C50C-407E-A947-70E740481C1C}">
                  <a14:useLocalDpi val="0"/>
                </a:ext>
                <a:ext uri="{96DAC541-7B7A-43D3-8B79-37D633B846F1}">
                  <ns5:svgBlip r:embed="rId10"/>
                </a:ext>
              </a:extLst>
            </a:blip>
            <a:stretch>
              <a:fillRect/>
            </a:stretch>
          </blipFill>
          <spPr>
            <a:xfrm>
              <a:off x="8535263" y="2641977"/>
              <a:ext cx="992919" cy="959438"/>
            </a:xfrm>
            <a:prstGeom prst="rect">
              <a:avLst/>
            </a:prstGeom>
          </spPr>
        </pic>
      </grpSp>
    </spTree>
    <extLst>
      <ext uri="{BB962C8B-B14F-4D97-AF65-F5344CB8AC3E}">
        <p14:creationId val="1420781873"/>
      </ext>
    </extLst>
  </cSld>
  <clrMapOvr>
    <a:masterClrMapping/>
  </clrMapOvr>
  <transition spd="med">
    <split orient="horz" dir="out"/>
  </transition>
</sld>
</file>

<file path=ppt/slides/slide2.xml><?xml version="1.0" encoding="utf-8"?>
<sld xmlns="http://schemas.openxmlformats.org/presentationml/2006/main" xmlns:a="http://schemas.openxmlformats.org/drawingml/2006/main" xmlns:a16="http://schemas.microsoft.com/office/drawing/2014/main" xmlns:p14="http://schemas.microsoft.com/office/powerpoint/2010/main" xmlns:r="http://schemas.openxmlformats.org/officeDocument/2006/relationships">
  <cSld>
    <spTree>
      <nvGrpSpPr>
        <cNvPr id="1" name="" descr="TwkS/X8jTDoEOVnKB9AwERXyBH5zemxi1PFnmEgdsMTOx8uCFHvx5iqhVrv3c54dVQGdTqXcP77Xhmsr+L8cZoVUgRCOgq9E-~6vMNcGV52uqI8oPqYQZznw=="/>
        <cNvGrpSpPr/>
        <nvPr/>
      </nvGrpSpPr>
      <grpSpPr>
        <a:xfrm>
          <a:off x="0" y="0"/>
          <a:ext cx="0" cy="0"/>
          <a:chOff x="0" y="0"/>
          <a:chExt cx="0" cy="0"/>
        </a:xfrm>
      </grpSpPr>
      <sp>
        <nvSpPr>
          <cNvPr id="2" name="Title 1" descr="IUxNvWtGFaLRXtqtfp4eEbvw+yRglJPuyUJrEJCgVfrAiaGB6RiX63si/j2gOQwI1iCWio8WI78Jbtv2pIjFE/a+PyTEJ9Kh-~rM8bdmCLvqMXvgkX3qKL4g==">
            <a:extLst>
              <a:ext uri="{FF2B5EF4-FFF2-40B4-BE49-F238E27FC236}">
                <a16:creationId id="{E21B5CCB-E19B-475C-94EB-3C6215918645}"/>
              </a:ext>
            </a:extLst>
          </cNvPr>
          <cNvSpPr>
            <a:spLocks noGrp="1"/>
          </cNvSpPr>
          <nvPr>
            <ph type="title"/>
          </nvPr>
        </nvSpPr>
        <spPr/>
        <txBody>
          <a:bodyPr/>
          <a:lstStyle/>
          <a:p>
            <a:r>
              <a:rPr lang="en-US" dirty="0"/>
              <a:t>What is STEM?</a:t>
            </a:r>
          </a:p>
        </txBody>
      </sp>
      <pic>
        <nvPicPr>
          <cNvPr id="50" name="Science Picture"/>
          <cNvPicPr>
            <a:picLocks noChangeAspect="1"/>
          </cNvPicPr>
          <nvPr/>
        </nvPicPr>
        <blipFill>
          <a:blip r:embed="rId3"/>
          <a:stretch>
            <a:fillRect/>
          </a:stretch>
        </blipFill>
        <spPr>
          <a:xfrm>
            <a:off x="457200" y="1645920"/>
            <a:ext cx="2194560" cy="2194560"/>
          </a:xfrm>
          <a:prstGeom prst="rect">
            <a:avLst/>
          </a:prstGeom>
          <a:effectLst>
            <a:outerShdw blurRad="40000" dist="23000" dir="5400000">
              <a:srgbClr val="000000">
                <a:alpha val="35000"/>
              </a:srgbClr>
            </a:outerShdw>
          </a:effectLst>
        </spPr>
      </pic>
      <sp>
        <nvSpPr>
          <cNvPr id="60" name="Science Caption"/>
          <cNvSpPr/>
          <nvPr/>
        </nvSpPr>
        <spPr>
          <a:xfrm>
            <a:off x="457200" y="4023360"/>
            <a:ext cx="2194560" cy="731520"/>
          </a:xfrm>
          <a:prstGeom prst="rect">
            <a:avLst/>
          </a:prstGeom>
        </spPr>
        <txBody>
          <a:bodyPr anchor="ctr"/>
          <a:lstStyle/>
          <a:p>
            <a:pPr algn="ctr"/>
            <a:r>
              <a:rPr lang="en-US" sz="1600" b="1">
                <a:solidFill>
                  <a:schemeClr val="lt1"/>
                </a:solidFill>
              </a:rPr>
              <a:t>Science</a:t>
            </a:r>
          </a:p>
        </txBody>
      </sp>
      <pic>
        <nvPicPr>
          <cNvPr id="51" name="Technology Picture"/>
          <cNvPicPr>
            <a:picLocks noChangeAspect="1"/>
          </cNvPicPr>
          <nvPr/>
        </nvPicPr>
        <blipFill>
          <a:blip r:embed="rId4"/>
          <a:stretch>
            <a:fillRect/>
          </a:stretch>
        </blipFill>
        <spPr>
          <a:xfrm>
            <a:off x="2926080" y="1645920"/>
            <a:ext cx="2194560" cy="2194560"/>
          </a:xfrm>
          <a:prstGeom prst="rect">
            <a:avLst/>
          </a:prstGeom>
          <a:effectLst>
            <a:outerShdw blurRad="40000" dist="23000" dir="5400000">
              <a:srgbClr val="000000">
                <a:alpha val="35000"/>
              </a:srgbClr>
            </a:outerShdw>
          </a:effectLst>
        </spPr>
      </pic>
      <sp>
        <nvSpPr>
          <cNvPr id="61" name="Technology Caption"/>
          <cNvSpPr/>
          <nvPr/>
        </nvSpPr>
        <spPr>
          <a:xfrm>
            <a:off x="2926080" y="4023360"/>
            <a:ext cx="2194560" cy="731520"/>
          </a:xfrm>
          <a:prstGeom prst="rect">
            <a:avLst/>
          </a:prstGeom>
        </spPr>
        <txBody>
          <a:bodyPr anchor="ctr"/>
          <a:lstStyle/>
          <a:p>
            <a:pPr algn="ctr"/>
            <a:r>
              <a:rPr lang="en-US" sz="1600" b="1">
                <a:solidFill>
                  <a:schemeClr val="lt1"/>
                </a:solidFill>
              </a:rPr>
              <a:t>Technology</a:t>
            </a:r>
          </a:p>
        </txBody>
      </sp>
      <pic>
        <nvPicPr>
          <cNvPr id="52" name="Engineering Picture"/>
          <cNvPicPr>
            <a:picLocks noChangeAspect="1"/>
          </cNvPicPr>
          <nvPr/>
        </nvPicPr>
        <blipFill>
          <a:blip r:embed="rId5"/>
          <a:stretch>
            <a:fillRect/>
          </a:stretch>
        </blipFill>
        <spPr>
          <a:xfrm>
            <a:off x="5394960" y="1645920"/>
            <a:ext cx="2194560" cy="2194560"/>
          </a:xfrm>
          <a:prstGeom prst="rect">
            <a:avLst/>
          </a:prstGeom>
          <a:effectLst>
            <a:outerShdw blurRad="40000" dist="23000" dir="5400000">
              <a:srgbClr val="000000">
                <a:alpha val="35000"/>
              </a:srgbClr>
            </a:outerShdw>
          </a:effectLst>
        </spPr>
      </pic>
      <sp>
        <nvSpPr>
          <cNvPr id="62" name="Engineering Caption"/>
          <cNvSpPr/>
          <nvPr/>
        </nvSpPr>
        <spPr>
          <a:xfrm>
            <a:off x="5394960" y="4023360"/>
            <a:ext cx="2194560" cy="731520"/>
          </a:xfrm>
          <a:prstGeom prst="rect">
            <a:avLst/>
          </a:prstGeom>
        </spPr>
        <txBody>
          <a:bodyPr anchor="ctr"/>
          <a:lstStyle/>
          <a:p>
            <a:pPr algn="ctr"/>
            <a:r>
              <a:rPr lang="en-US" sz="1600" b="1">
                <a:solidFill>
                  <a:schemeClr val="lt1"/>
                </a:solidFill>
              </a:rPr>
              <a:t>Engineering</a:t>
            </a:r>
          </a:p>
        </txBody>
      </sp>
      <pic>
        <nvPicPr>
          <cNvPr id="53" name="Math Picture"/>
          <cNvPicPr>
            <a:picLocks noChangeAspect="1"/>
          </cNvPicPr>
          <nvPr/>
        </nvPicPr>
        <blipFill>
          <a:blip r:embed="rId6"/>
          <a:stretch>
            <a:fillRect/>
          </a:stretch>
        </blipFill>
        <spPr>
          <a:xfrm>
            <a:off x="7863840" y="1645920"/>
            <a:ext cx="2194560" cy="2194560"/>
          </a:xfrm>
          <a:prstGeom prst="rect">
            <a:avLst/>
          </a:prstGeom>
          <a:effectLst>
            <a:outerShdw blurRad="40000" dist="23000" dir="5400000">
              <a:srgbClr val="000000">
                <a:alpha val="35000"/>
              </a:srgbClr>
            </a:outerShdw>
          </a:effectLst>
        </spPr>
      </pic>
      <sp>
        <nvSpPr>
          <cNvPr id="63" name="Math Caption"/>
          <cNvSpPr/>
          <nvPr/>
        </nvSpPr>
        <spPr>
          <a:xfrm>
            <a:off x="7863840" y="4023360"/>
            <a:ext cx="2194560" cy="731520"/>
          </a:xfrm>
          <a:prstGeom prst="rect">
            <a:avLst/>
          </a:prstGeom>
        </spPr>
        <txBody>
          <a:bodyPr anchor="ctr"/>
          <a:lstStyle/>
          <a:p>
            <a:pPr algn="ctr"/>
            <a:r>
              <a:rPr lang="en-US" sz="1600" b="1">
                <a:solidFill>
                  <a:schemeClr val="lt1"/>
                </a:solidFill>
              </a:rPr>
              <a:t>Math</a:t>
            </a:r>
          </a:p>
        </txBody>
      </sp>
      <sp>
        <nvSpPr>
          <cNvPr id="250" name="Slide Number"/>
          <cNvSpPr>
            <a:spLocks noGrp="1"/>
          </cNvSpPr>
          <nvPr>
            <ph type="sldNum" sz="quarter" idx="12"/>
          </nvPr>
        </nvSpPr>
        <spPr/>
        <txBody>
          <a:bodyPr/>
          <a:lstStyle/>
          <a:p>
            <a:fld type="slidenum" id="{B6F15528-F159-4107-B29E-5A5F9D2E0204}">
              <a:rPr lang="en-US"/>
              <a:t>2</a:t>
            </a:fld>
          </a:p>
        </txBody>
      </sp>
    </spTree>
    <extLst>
      <ext uri="{BB962C8B-B14F-4D97-AF65-F5344CB8AC3E}">
        <p14:creationId val="2495731963"/>
      </ext>
    </extLst>
  </cSld>
  <clrMapOvr>
    <a:masterClrMapping/>
  </clrMapOvr>
  <transition spd="med">
    <split orient="horz" dir="out"/>
  </transition>
</sld>
</file>

<file path=ppt/slides/slide3.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descr="NsWpkPyRbnh24Go/4tWL4nCCJKifJixokg3n1lKybBMAPpWoo+d+KI1mXK0wLyb5l4gTQlnDRo769oTlOdXa3gtb5gCT4kcC-~/iTU7l04BjAchoqqSQ6TNw=="/>
        <cNvGrpSpPr/>
        <nvPr/>
      </nvGrpSpPr>
      <grpSpPr>
        <a:xfrm>
          <a:off x="0" y="0"/>
          <a:ext cx="0" cy="0"/>
          <a:chOff x="0" y="0"/>
          <a:chExt cx="0" cy="0"/>
        </a:xfrm>
      </grpSpPr>
      <sp>
        <nvSpPr>
          <cNvPr id="2" name="Title 1" descr="ihrlaU2E7tEPsbhKKHJYVZVXeqwLxvvYbeIIqtHoBbzZDVqg7EPUBfo6EUWg/XDYSOtgSvMGpbXfdyIzoqP4vDvxLzEYy9FR-~ZoFUV/lt87uPkMIUMLrJUg==">
            <a:extLst>
              <a:ext uri="{FF2B5EF4-FFF2-40B4-BE49-F238E27FC236}">
                <a16:creationId id="{F3DA78A0-DFE3-4CA8-B569-F51DF426BFF1}"/>
              </a:ext>
            </a:extLst>
          </cNvPr>
          <cNvSpPr>
            <a:spLocks noGrp="1"/>
          </cNvSpPr>
          <nvPr>
            <ph type="title"/>
          </nvPr>
        </nvSpPr>
        <spPr>
          <a:xfrm>
            <a:off x="790575" y="3127375"/>
            <a:ext cx="10058400" cy="2560320"/>
          </a:xfrm>
        </spPr>
        <txBody>
          <a:bodyPr>
            <a:prstTxWarp prst="textWave1">
              <a:avLst/>
            </a:prstTxWarp>
          </a:bodyPr>
          <a:lstStyle/>
          <a:p>
            <a:r>
              <a:rPr lang="en-US" dirty="0" sz="9600" b="1">
                <a:solidFill>
                  <a:schemeClr val="accent1"/>
                </a:solidFill>
                <a:effectLst>
                  <a:reflection blurRad="6350" stA="50000" endA="300" endPos="55500" dist="50800" dir="5400000" sy="-100000" algn="bl" rotWithShape="0"/>
                </a:effectLst>
              </a:rPr>
              <a:t>Why STEM?</a:t>
            </a:r>
          </a:p>
        </txBody>
      </sp>
      <sp>
        <nvSpPr>
          <cNvPr id="250" name="Slide Number"/>
          <cNvSpPr>
            <a:spLocks noGrp="1"/>
          </cNvSpPr>
          <nvPr>
            <ph type="sldNum" sz="quarter" idx="12"/>
          </nvPr>
        </nvSpPr>
        <spPr/>
        <txBody>
          <a:bodyPr/>
          <a:lstStyle/>
          <a:p>
            <a:fld type="slidenum" id="{B6F15528-F159-4107-B29E-5A5F9D2E0204}">
              <a:rPr lang="en-US"/>
              <a:t>3</a:t>
            </a:fld>
          </a:p>
        </txBody>
      </sp>
    </spTree>
    <extLst>
      <ext uri="{BB962C8B-B14F-4D97-AF65-F5344CB8AC3E}">
        <p14:creationId val="677877829"/>
      </ext>
    </extLst>
  </cSld>
  <clrMapOvr>
    <a:masterClrMapping/>
  </clrMapOvr>
  <transition spd="med">
    <split orient="horz" dir="out"/>
  </transition>
</sld>
</file>

<file path=ppt/slides/slide4.xml><?xml version="1.0" encoding="utf-8"?>
<sld xmlns="http://schemas.openxmlformats.org/presentationml/2006/main" xmlns:a="http://schemas.openxmlformats.org/drawingml/2006/main" xmlns:a16="http://schemas.microsoft.com/office/drawing/2014/main" xmlns:p14="http://schemas.microsoft.com/office/powerpoint/2010/main" xmlns:r="http://schemas.openxmlformats.org/officeDocument/2006/relationships">
  <cSld>
    <bg>
      <bgPr>
        <a:blipFill>
          <a:blip r:embed="rId3">
            <a:alphaModFix amt="90000"/>
          </a:blip>
          <a:stretch>
            <a:fillRect/>
          </a:stretch>
        </a:blipFill>
        <a:effectLst/>
      </bgPr>
    </bg>
    <spTree>
      <nvGrpSpPr>
        <cNvPr id="1" name="" descr="qqlc0Y5mxXS6YwM5SX4kHYOccpVeK4GDGcRrF4uNlUWVgvohYkMv8CuPRMAR1mT3jYZibm+Gy3eWZlFELu/yEPgUUD/l1JcR-~AeTXcb2EeBQxgRpJxA9t0Q=="/>
        <cNvGrpSpPr/>
        <nvPr/>
      </nvGrpSpPr>
      <grpSpPr>
        <a:xfrm>
          <a:off x="0" y="0"/>
          <a:ext cx="0" cy="0"/>
          <a:chOff x="0" y="0"/>
          <a:chExt cx="0" cy="0"/>
        </a:xfrm>
      </grpSpPr>
      <sp>
        <nvSpPr>
          <cNvPr id="2" name="Title 1" descr="lWUFefEPDX/z7Meth9+9fhyU8ocXOsrvXgbNu9e8wmeZKB2J//me0r2m+sp2Jdw+GlVxKPR/4yYL9pp7WY9LUj7npZehGOpU-~rZyYgoTIRgCnKfPnhBdjYw==">
            <a:extLst>
              <a:ext uri="{FF2B5EF4-FFF2-40B4-BE49-F238E27FC236}">
                <a16:creationId id="{1959356A-1ADC-4FFD-8E5B-74871FE700DF}"/>
              </a:ext>
            </a:extLst>
          </cNvPr>
          <cNvSpPr>
            <a:spLocks noGrp="1"/>
          </cNvSpPr>
          <nvPr>
            <ph type="title"/>
          </nvPr>
        </nvSpPr>
        <spPr/>
        <txBody>
          <a:bodyPr/>
          <a:lstStyle/>
          <a:p>
            <a:r>
              <a:rPr lang="en-US" dirty="0"/>
              <a:t>U.S. Ratings</a:t>
            </a:r>
          </a:p>
        </txBody>
      </sp>
      <sp>
        <nvSpPr>
          <cNvPr id="80" name="Oval 1"/>
          <cNvSpPr/>
          <nvPr/>
        </nvSpPr>
        <spPr>
          <a:xfrm>
            <a:off x="5212080" y="4023360"/>
            <a:ext cx="3566160" cy="2377440"/>
          </a:xfrm>
          <a:prstGeom prst="ellipse">
            <a:avLst/>
          </a:prstGeom>
          <a:solidFill>
            <a:schemeClr val="bg1">
              <a:alpha val="64000"/>
            </a:schemeClr>
          </a:solidFill>
          <a:ln>
            <a:noFill/>
          </a:ln>
        </spPr>
        <txBody>
          <a:bodyPr anchor="ctr"/>
          <a:lstStyle/>
          <a:p>
            <a:pPr algn="ctr"/>
            <a:r>
              <a:rPr lang="en-US" sz="3600" dirty="0">
                <a:solidFill>
                  <a:schemeClr val="lt1"/>
                </a:solidFill>
              </a:rPr>
              <a:t>40th in Mathematics</a:t>
            </a:r>
          </a:p>
        </txBody>
      </sp>
      <sp>
        <nvSpPr>
          <cNvPr id="81" name="Oval 2"/>
          <cNvSpPr/>
          <nvPr/>
        </nvSpPr>
        <spPr>
          <a:xfrm>
            <a:off x="7955279" y="1554480"/>
            <a:ext cx="3566160" cy="2377440"/>
          </a:xfrm>
          <a:prstGeom prst="ellipse">
            <a:avLst/>
          </a:prstGeom>
          <a:solidFill>
            <a:schemeClr val="bg1">
              <a:alpha val="64000"/>
            </a:schemeClr>
          </a:solidFill>
          <a:ln>
            <a:noFill/>
          </a:ln>
        </spPr>
        <txBody>
          <a:bodyPr anchor="ctr"/>
          <a:lstStyle/>
          <a:p>
            <a:pPr algn="ctr"/>
            <a:r>
              <a:rPr lang="en-US" sz="3600" dirty="0">
                <a:solidFill>
                  <a:schemeClr val="lt1"/>
                </a:solidFill>
              </a:rPr>
              <a:t>25th in Science</a:t>
            </a:r>
          </a:p>
        </txBody>
      </sp>
      <sp>
        <nvSpPr>
          <cNvPr id="250" name="Slide Number"/>
          <cNvSpPr>
            <a:spLocks noGrp="1"/>
          </cNvSpPr>
          <nvPr>
            <ph type="sldNum" sz="quarter" idx="12"/>
          </nvPr>
        </nvSpPr>
        <spPr/>
        <txBody>
          <a:bodyPr/>
          <a:lstStyle/>
          <a:p>
            <a:fld type="slidenum" id="{B6F15528-F159-4107-B29E-5A5F9D2E0204}">
              <a:rPr lang="en-US"/>
              <a:t>4</a:t>
            </a:fld>
          </a:p>
        </txBody>
      </sp>
    </spTree>
    <extLst>
      <ext uri="{BB962C8B-B14F-4D97-AF65-F5344CB8AC3E}">
        <p14:creationId val="2256264939"/>
      </ext>
    </extLst>
  </cSld>
  <clrMapOvr>
    <a:masterClrMapping/>
  </clrMapOvr>
  <transition spd="med">
    <split orient="horz" dir="out"/>
  </transition>
</sld>
</file>

<file path=ppt/slides/slide5.xml><?xml version="1.0" encoding="utf-8"?>
<sld xmlns="http://schemas.openxmlformats.org/presentationml/2006/main" xmlns:a="http://schemas.openxmlformats.org/drawingml/2006/main" xmlns:a16="http://schemas.microsoft.com/office/drawing/2014/main" xmlns:c="http://schemas.openxmlformats.org/drawingml/2006/chart" xmlns:p14="http://schemas.microsoft.com/office/powerpoint/2010/main" xmlns:r="http://schemas.openxmlformats.org/officeDocument/2006/relationships">
  <cSld>
    <spTree>
      <nvGrpSpPr>
        <cNvPr id="1" name="" descr="6JCZC/TeY0mXnjwO33/51+8F14zwkW22m2OL2ZyQU7/54/euHYSlpECjwsBPmLG7VfH+xgvrlSCIsZxKn1Jd5ukoQ54f7tCB-~lWBuW78jVblGzjFKsKLDeQ=="/>
        <cNvGrpSpPr/>
        <nvPr/>
      </nvGrpSpPr>
      <grpSpPr>
        <a:xfrm>
          <a:off x="0" y="0"/>
          <a:ext cx="0" cy="0"/>
          <a:chOff x="0" y="0"/>
          <a:chExt cx="0" cy="0"/>
        </a:xfrm>
      </grpSpPr>
      <sp>
        <nvSpPr>
          <cNvPr id="5" name="Title 4" descr="QVTUWxkeuxhyH5ZWWa2WjzzNdVy1+iYqS7a3r1cKumeuGHqySfIlqoeaf2xEMbougDW+bnhPKlQM9xErXlkVjtAyk/vnBgUB-~iZOzOj0XjXIJ1uzLFR72bw==">
            <a:extLst>
              <a:ext uri="{FF2B5EF4-FFF2-40B4-BE49-F238E27FC236}">
                <a16:creationId id="{A81AB0C1-F350-4593-BEEE-A6934F24820D}"/>
              </a:ext>
            </a:extLst>
          </cNvPr>
          <cNvSpPr>
            <a:spLocks noGrp="1"/>
          </cNvSpPr>
          <nvPr>
            <ph type="title"/>
          </nvPr>
        </nvSpPr>
        <spPr>
          <a:xfrm>
            <a:off x="633412" y="137160"/>
            <a:ext cx="10925175" cy="1097280"/>
          </a:xfrm>
        </spPr>
        <txBody>
          <a:bodyPr>
            <a:normAutofit fontScale="90000"/>
          </a:bodyPr>
          <a:lstStyle/>
          <a:p>
            <a:r>
              <a:rPr lang="en-US" sz="6000" dirty="0"/>
              <a:t>STEM Occupations Expected to Grow</a:t>
            </a:r>
          </a:p>
        </txBody>
      </sp>
      <graphicFrame>
        <nvGraphicFramePr>
          <cNvPr id="100" name="Chart 1"/>
          <cNvGraphicFramePr/>
          <nvPr/>
        </nvGraphicFramePr>
        <xfrm>
          <a:off x="457200" y="1371600"/>
          <a:ext cx="10058400" cy="5029200"/>
        </xfrm>
        <a:graphic>
          <a:graphicData uri="http://schemas.openxmlformats.org/drawingml/2006/chart">
            <c:chart r:id="rId3"/>
          </a:graphicData>
        </a:graphic>
      </graphicFrame>
      <sp>
        <nvSpPr>
          <cNvPr id="250" name="Slide Number"/>
          <cNvSpPr>
            <a:spLocks noGrp="1"/>
          </cNvSpPr>
          <nvPr>
            <ph type="sldNum" sz="quarter" idx="12"/>
          </nvPr>
        </nvSpPr>
        <spPr/>
        <txBody>
          <a:bodyPr/>
          <a:lstStyle/>
          <a:p>
            <a:fld type="slidenum" id="{B6F15528-F159-4107-B29E-5A5F9D2E0204}">
              <a:rPr lang="en-US"/>
              <a:t>5</a:t>
            </a:fld>
          </a:p>
        </txBody>
      </sp>
    </spTree>
    <extLst>
      <ext uri="{BB962C8B-B14F-4D97-AF65-F5344CB8AC3E}">
        <p14:creationId val="1996817479"/>
      </ext>
    </extLst>
  </cSld>
  <clrMapOvr>
    <a:masterClrMapping/>
  </clrMapOvr>
  <timing>
    <tnLst>
      <par>
        <cTn id="1" dur="indefinite" restart="never" nodeType="tmRoot">
          <childTnLst>
            <seq concurrent="1" nextAc="seek">
              <cTn id="2" dur="indefinite" nodeType="mainSeq">
                <childTnLst>
                  <par>
                    <cTn id="3" fill="hold">
                      <stCondLst>
                        <cond delay="0" evt="onPrev"/>
                      </stCondLst>
                      <childTnLst>
                        <par>
                          <cTn id="4" fill="hold">
                            <stCondLst>
                              <cond delay="0"/>
                            </stCondLst>
                            <childTnLst>
                              <par>
                                <cTn id="5" presetID="2" presetClass="entr" presetSubtype="4" fill="hold" grpId="0" nodeType="afterEffect"/>
                              </par>
                            </childTnLst>
                          </cTn>
                        </par>
                      </childTnLst>
                    </cTn>
                  </par>
                </childTnLst>
              </cTn>
            </seq>
          </childTnLst>
        </cTn>
      </par>
    </tnLst>
  </timing>
  <transition spd="med">
    <split orient="horz" dir="out"/>
  </transition>
</sld>
</file>

<file path=ppt/slides/slide6.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descr="xshf4l6ja4zNfO+1ij+BZJY1CtrUZMhb6zqwb6DMknPJK8RLy3yPVwTJTBCbc2at32cfLdOTmuo3ksBXMRdesBuezrE9V0xx-~v/LVyw5bHc3/4sVtGPC6WQ=="/>
        <cNvGrpSpPr/>
        <nvPr/>
      </nvGrpSpPr>
      <grpSpPr>
        <a:xfrm>
          <a:off x="0" y="0"/>
          <a:ext cx="0" cy="0"/>
          <a:chOff x="0" y="0"/>
          <a:chExt cx="0" cy="0"/>
        </a:xfrm>
      </grpSpPr>
      <sp>
        <nvSpPr>
          <cNvPr id="5" name="Title 4" descr="IHZsHasDT2T/k/8L9YqbZrLjgdvO/d5fKkv83SxvyXaUvXZGyYfwPbciIEmEDUV0TtfNIba4/UygGaJnXapCLW6h3HH8OG3j-~sEEAkXcUkAVgfX+3jbCPRA==">
            <a:extLst>
              <a:ext uri="{FF2B5EF4-FFF2-40B4-BE49-F238E27FC236}">
                <a16:creationId id="{7E12C455-C60B-4E8A-BA4D-9B4FAD6E2FDD}"/>
              </a:ext>
            </a:extLst>
          </cNvPr>
          <cNvSpPr>
            <a:spLocks noGrp="1"/>
          </cNvSpPr>
          <nvPr>
            <ph type="title"/>
          </nvPr>
        </nvSpPr>
        <spPr/>
        <txBody>
          <a:bodyPr>
            <a:normAutofit fontScale="90000"/>
          </a:bodyPr>
          <a:lstStyle/>
          <a:p>
            <a:r>
              <a:rPr lang="en-US" dirty="0"/>
              <a:t>Today’s Students are Tomorrow’s Leaders</a:t>
            </a:r>
          </a:p>
        </txBody>
      </sp>
      <sp>
        <nvSpPr>
          <cNvPr id="70" name="SmartArt Item 1"/>
          <cNvSpPr/>
          <nvPr/>
        </nvSpPr>
        <spPr>
          <a:xfrm>
            <a:off x="731520" y="1371600"/>
            <a:ext cx="9601200" cy="1097280"/>
          </a:xfrm>
          <a:prstGeom prst="rect">
            <a:avLst/>
          </a:prstGeom>
          <a:ln w="76200">
            <a:solidFill>
              <a:schemeClr val="accent1"/>
            </a:solidFill>
          </a:ln>
        </spPr>
        <txBody>
          <a:bodyPr anchor="ctr"/>
          <a:lstStyle/>
          <a:p>
            <a:r>
              <a:rPr lang="en-US" sz="2000">
                <a:solidFill>
                  <a:schemeClr val="lt1"/>
                </a:solidFill>
              </a:rPr>
              <a:t>STEM-related careers are some of the fastest growing and best paid of the 21st century</a:t>
            </a:r>
          </a:p>
        </txBody>
      </sp>
      <sp>
        <nvSpPr>
          <cNvPr id="71" name="SmartArt Item 2"/>
          <cNvSpPr/>
          <nvPr/>
        </nvSpPr>
        <spPr>
          <a:xfrm>
            <a:off x="731520" y="2743200"/>
            <a:ext cx="9601200" cy="1097280"/>
          </a:xfrm>
          <a:prstGeom prst="rect">
            <a:avLst/>
          </a:prstGeom>
          <a:ln w="76200">
            <a:solidFill>
              <a:schemeClr val="accent2"/>
            </a:solidFill>
          </a:ln>
        </spPr>
        <txBody>
          <a:bodyPr anchor="ctr"/>
          <a:lstStyle/>
          <a:p>
            <a:r>
              <a:rPr lang="en-US" sz="2000">
                <a:solidFill>
                  <a:schemeClr val="lt1"/>
                </a:solidFill>
              </a:rPr>
              <a:t>Important that our country remains competitive in STEM fields</a:t>
            </a:r>
          </a:p>
        </txBody>
      </sp>
      <sp>
        <nvSpPr>
          <cNvPr id="72" name="SmartArt Item 3"/>
          <cNvSpPr/>
          <nvPr/>
        </nvSpPr>
        <spPr>
          <a:xfrm>
            <a:off x="731520" y="4114800"/>
            <a:ext cx="9601200" cy="1097280"/>
          </a:xfrm>
          <a:prstGeom prst="rect">
            <a:avLst/>
          </a:prstGeom>
          <a:ln w="76200">
            <a:solidFill>
              <a:schemeClr val="accent3"/>
            </a:solidFill>
          </a:ln>
        </spPr>
        <txBody>
          <a:bodyPr anchor="ctr"/>
          <a:lstStyle/>
          <a:p>
            <a:r>
              <a:rPr lang="en-US" sz="2000">
                <a:solidFill>
                  <a:schemeClr val="lt1"/>
                </a:solidFill>
              </a:rPr>
              <a:t>The best way to ensure future success is to make certain that American students are well versed in these subjects</a:t>
            </a:r>
          </a:p>
        </txBody>
      </sp>
      <sp>
        <nvSpPr>
          <cNvPr id="250" name="Slide Number"/>
          <cNvSpPr>
            <a:spLocks noGrp="1"/>
          </cNvSpPr>
          <nvPr>
            <ph type="sldNum" sz="quarter" idx="12"/>
          </nvPr>
        </nvSpPr>
        <spPr/>
        <txBody>
          <a:bodyPr/>
          <a:lstStyle/>
          <a:p>
            <a:fld type="slidenum" id="{B6F15528-F159-4107-B29E-5A5F9D2E0204}">
              <a:rPr lang="en-US"/>
              <a:t>6</a:t>
            </a:fld>
          </a:p>
        </txBody>
      </sp>
    </spTree>
    <extLst>
      <ext uri="{BB962C8B-B14F-4D97-AF65-F5344CB8AC3E}">
        <p14:creationId val="4033320965"/>
      </ext>
    </extLst>
  </cSld>
  <clrMapOvr>
    <a:masterClrMapping/>
  </clrMapOvr>
  <transition spd="med">
    <split orient="horz" dir="out"/>
  </transition>
</sld>
</file>

<file path=ppt/slides/slide8.xml><?xml version="1.0" encoding="utf-8"?>
<sld xmlns="http://schemas.openxmlformats.org/presentationml/2006/main" xmlns:a="http://schemas.openxmlformats.org/drawingml/2006/main" xmlns:a16="http://schemas.microsoft.com/office/drawing/2014/main" xmlns:p14="http://schemas.microsoft.com/office/powerpoint/2010/main" xmlns:r="http://schemas.openxmlformats.org/officeDocument/2006/relationships">
  <cSld>
    <spTree>
      <nvGrpSpPr>
        <cNvPr id="1" name="" descr="iNobmgcTwXMDPOSRbZSznRKMdeHd3X+iRZoo68t8NPoZ6m1H3y5ogUhKBwENOEAW10++Mc3T6i/ZF3IaVtUQxCBrNIf2V9JI-~KxcJLznyYRQaHby+yu3LfQ=="/>
        <cNvGrpSpPr/>
        <nvPr/>
      </nvGrpSpPr>
      <grpSpPr>
        <a:xfrm>
          <a:off x="0" y="0"/>
          <a:ext cx="0" cy="0"/>
          <a:chOff x="0" y="0"/>
          <a:chExt cx="0" cy="0"/>
        </a:xfrm>
      </grpSpPr>
      <sp>
        <nvSpPr>
          <cNvPr id="2" name="Title 1" descr="vwAO/QXPE4UDmPPjOfmx/OuLaZxMSGHmcfDYbmA0SIbX+GrQiLyeke99vfP9G6E7mDB01Hh5+fwwF46auVi5PEukF+XYTlsX-~I8GAszZ9eqKWNkmyA8L/Sg==">
            <a:extLst>
              <a:ext uri="{FF2B5EF4-FFF2-40B4-BE49-F238E27FC236}">
                <a16:creationId id="{608D9AF3-A99A-4496-89E5-10493E30EAFA}"/>
              </a:ext>
            </a:extLst>
          </cNvPr>
          <cNvSpPr>
            <a:spLocks noGrp="1"/>
          </cNvSpPr>
          <nvPr>
            <ph type="title"/>
          </nvPr>
        </nvSpPr>
        <spPr>
          <a:xfrm>
            <a:off x="6332852" y="437036"/>
            <a:ext cx="5594133" cy="687542"/>
          </a:xfrm>
        </spPr>
        <txBody>
          <a:bodyPr>
            <a:normAutofit/>
          </a:bodyPr>
          <a:lstStyle/>
          <a:p>
            <a:pPr algn="ctr"/>
            <a:r>
              <a:rPr lang="en-US" sz="3600" dirty="0"/>
              <a:t>Overall STEM Education</a:t>
            </a:r>
          </a:p>
        </txBody>
      </sp>
      <sp>
        <nvSpPr>
          <cNvPr id="3" name="Text Placeholder 2" descr="aOWGOtKSr73rRoltiQkJ9QFfPIT8rvDgbh0IvHAkQ0WBg2SRnqtJwZQHg94m8ehjN0VE+gcCPiWOJIEoiHtyXiQAWUNl0rpp-~rGpTqpk2sDHEtszB+gGpMQ==">
            <a:extLst>
              <a:ext uri="{FF2B5EF4-FFF2-40B4-BE49-F238E27FC236}">
                <a16:creationId id="{98C74706-816B-4FFB-AD81-1947CC08AC34}"/>
              </a:ext>
            </a:extLst>
          </cNvPr>
          <cNvSpPr>
            <a:spLocks noGrp="1"/>
          </cNvSpPr>
          <nvPr>
            <ph type="body" sz="half" idx="2"/>
          </nvPr>
        </nvSpPr>
        <spPr>
          <a:xfrm>
            <a:off x="6323723" y="1399021"/>
            <a:ext cx="5612390" cy="5021943"/>
          </a:xfrm>
        </spPr>
        <txBody>
          <a:bodyPr anchor="t"/>
          <a:lstStyle/>
          <a:p>
            <a:pPr marL="342900" indent="-342900">
              <a:buFont typeface="Arial" panose="020B0604020202020204" pitchFamily="34" charset="0"/>
              <a:buChar char="•"/>
            </a:pPr>
            <a:r>
              <a:rPr lang="en-US" sz="2800" b="1" dirty="0">
                <a:solidFill>
                  <a:schemeClr val="accent1"/>
                </a:solidFill>
              </a:rPr>
              <a:t>Integrates</a:t>
            </a:r>
            <a:r>
              <a:rPr lang="en-US" sz="2800" dirty="0"/>
              <a:t> science, technology, engineering, &amp; math into one learning experience</a:t>
            </a:r>
          </a:p>
          <a:p>
            <a:pPr marL="342900" indent="-342900">
              <a:buFont typeface="Arial" panose="020B0604020202020204" pitchFamily="34" charset="0"/>
              <a:buChar char="•"/>
            </a:pPr>
            <a:r>
              <a:rPr lang="en-US" sz="2800" dirty="0"/>
              <a:t>Uses </a:t>
            </a:r>
            <a:r>
              <a:rPr lang="en-US" sz="2800" b="1" dirty="0">
                <a:solidFill>
                  <a:schemeClr val="accent1"/>
                </a:solidFill>
              </a:rPr>
              <a:t>project-based</a:t>
            </a:r>
            <a:r>
              <a:rPr lang="en-US" sz="2800" dirty="0"/>
              <a:t>learning</a:t>
            </a:r>
          </a:p>
          <a:p>
            <a:pPr marL="342900" indent="-342900">
              <a:buFont typeface="Arial" panose="020B0604020202020204" pitchFamily="34" charset="0"/>
              <a:buChar char="•"/>
            </a:pPr>
            <a:r>
              <a:rPr lang="en-US" sz="2800" dirty="0"/>
              <a:t>Reinforces </a:t>
            </a:r>
            <a:r>
              <a:rPr lang="en-US" sz="2800" b="1" dirty="0">
                <a:solidFill>
                  <a:schemeClr val="accent1"/>
                </a:solidFill>
              </a:rPr>
              <a:t>real world </a:t>
            </a:r>
            <a:r>
              <a:rPr lang="en-US" sz="2800" dirty="0"/>
              <a:t>application</a:t>
            </a:r>
          </a:p>
          <a:p>
            <a:pPr marL="342900" indent="-342900">
              <a:buFont typeface="Arial" panose="020B0604020202020204" pitchFamily="34" charset="0"/>
              <a:buChar char="•"/>
            </a:pPr>
            <a:r>
              <a:rPr lang="en-US" sz="2800" dirty="0"/>
              <a:t>Prepares students for </a:t>
            </a:r>
            <a:r>
              <a:rPr lang="en-US" sz="2800" b="1" dirty="0">
                <a:solidFill>
                  <a:schemeClr val="accent1"/>
                </a:solidFill>
              </a:rPr>
              <a:t>integrated </a:t>
            </a:r>
            <a:r>
              <a:rPr lang="en-US" sz="2800" dirty="0"/>
              <a:t>careers</a:t>
            </a:r>
          </a:p>
          <a:p>
            <a:pPr marL="342900" indent="-342900">
              <a:buFont typeface="Arial" panose="020B0604020202020204" pitchFamily="34" charset="0"/>
              <a:buChar char="•"/>
            </a:pPr>
            <a:r>
              <a:rPr lang="en-US" sz="2800" dirty="0"/>
              <a:t>Develops </a:t>
            </a:r>
            <a:r>
              <a:rPr lang="en-US" sz="2800" b="1" dirty="0">
                <a:solidFill>
                  <a:schemeClr val="accent1"/>
                </a:solidFill>
              </a:rPr>
              <a:t>“soft” &amp; technical </a:t>
            </a:r>
            <a:r>
              <a:rPr lang="en-US" sz="2800" dirty="0"/>
              <a:t>skills</a:t>
            </a:r>
          </a:p>
          <a:p>
            <a:endParaRPr lang="en-US" dirty="0"/>
          </a:p>
        </txBody>
      </sp>
      <pic>
        <nvPicPr>
          <cNvPr id="20" name="Microscope"/>
          <cNvPicPr>
            <a:picLocks noChangeAspect="1"/>
          </cNvPicPr>
          <nvPr/>
        </nvPicPr>
        <blipFill>
          <a:blip r:embed="rId3"/>
          <a:stretch>
            <a:fillRect/>
          </a:stretch>
        </blipFill>
        <spPr>
          <a:xfrm>
            <a:off x="349856" y="222637"/>
            <a:ext cx="5472503" cy="6347845"/>
          </a:xfrm>
          <a:prstGeom prst="ellipse">
            <a:avLst/>
          </a:prstGeom>
          <a:ln w="88900">
            <a:solidFill>
              <a:schemeClr val="bg2">
                <a:lumMod val="50000"/>
                <a:lumOff val="50000"/>
              </a:schemeClr>
            </a:solidFill>
          </a:ln>
          <a:effectLst>
            <a:reflection blurRad="12700" stA="28000" endPos="45000" dist="1000" dir="5400000" sy="-100000" algn="bl" rotWithShape="0"/>
          </a:effectLst>
        </spPr>
      </pic>
      <sp>
        <nvSpPr>
          <cNvPr id="250" name="Slide Number"/>
          <cNvSpPr>
            <a:spLocks noGrp="1"/>
          </cNvSpPr>
          <nvPr>
            <ph type="sldNum" sz="quarter" idx="12"/>
          </nvPr>
        </nvSpPr>
        <spPr/>
        <txBody>
          <a:bodyPr/>
          <a:lstStyle/>
          <a:p>
            <a:fld type="slidenum" id="{B6F15528-F159-4107-B29E-5A5F9D2E0204}">
              <a:rPr lang="en-US"/>
              <a:t>7</a:t>
            </a:fld>
          </a:p>
        </txBody>
      </sp>
    </spTree>
    <extLst>
      <ext uri="{BB962C8B-B14F-4D97-AF65-F5344CB8AC3E}">
        <p14:creationId val="2913377697"/>
      </ext>
    </extLst>
  </cSld>
  <clrMapOvr>
    <a:masterClrMapping/>
  </clrMapOvr>
  <transition spd="med">
    <split orient="horz" dir="out"/>
  </transition>
</sld>
</file>

<file path=ppt/slides/slide9.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descr="XhTQpPFquGbO8f+/dzTI6qfFWZgvYWkkt08IltVUQb0peGRpdp5hwKuBoAxvZe6ovU+WFUMiWyLIKn33i7Lf09gf6hQpwIFD-~SpDGhM2nBCycRerdOomUnw=="/>
        <cNvGrpSpPr/>
        <nvPr/>
      </nvGrpSpPr>
      <grpSpPr>
        <a:xfrm>
          <a:off x="0" y="0"/>
          <a:ext cx="0" cy="0"/>
          <a:chOff x="0" y="0"/>
          <a:chExt cx="0" cy="0"/>
        </a:xfrm>
      </grpSpPr>
      <sp>
        <nvSpPr>
          <cNvPr id="2" name="Title 1" descr="Fub32hjFeXgw6HxqXwfH5Xde7l34/nQx0PYr+Kcs1suvjGNmjzam9X1ofeE3kayXuTKYaMuPcj12Swz6ZIfD1SiKGDR0p5fT-~UD7snj03JUM6g0VxvtngvQ==">
            <a:extLst>
              <a:ext uri="{FF2B5EF4-FFF2-40B4-BE49-F238E27FC236}">
                <a16:creationId id="{521500B2-D6AA-436B-8B9F-83D7EEB0475E}"/>
              </a:ext>
            </a:extLst>
          </cNvPr>
          <cNvSpPr>
            <a:spLocks noGrp="1"/>
          </cNvSpPr>
          <nvPr>
            <ph type="title"/>
          </nvPr>
        </nvSpPr>
        <spPr/>
        <txBody>
          <a:bodyPr/>
          <a:lstStyle/>
          <a:p>
            <a:r>
              <a:rPr lang="en-US" dirty="0"/>
              <a:t>Current Curriculum </a:t>
            </a:r>
          </a:p>
        </txBody>
      </sp>
      <sp>
        <nvSpPr>
          <cNvPr id="5" name="Content Placeholder 4" descr="YqH9DTAqXbd3LygTpkP6QuA9WZ8VBLgto47TYOoLXb3GwA+mkhQYI1lGafMlwmU6aA7RTwL4DAb5hUC6B3+xLeLLbGWBHMTC-~vPZuEL45TZ6T+1XGpFlgVw==">
            <a:extLst>
              <a:ext uri="{FF2B5EF4-FFF2-40B4-BE49-F238E27FC236}">
                <a16:creationId id="{CDC7FA54-5A40-49A2-B5BB-DBF301F479F2}"/>
              </a:ext>
            </a:extLst>
          </cNvPr>
          <cNvSpPr>
            <a:spLocks noGrp="1"/>
          </cNvSpPr>
          <nvPr>
            <ph idx="1"/>
          </nvPr>
        </nvSpPr>
        <spPr/>
        <txBody>
          <a:bodyPr/>
          <a:lstStyle/>
          <a:p>
            <a:endParaRPr lang="en-US" dirty="0"/>
          </a:p>
        </txBody>
      </sp>
      <graphicFrame>
        <nvGraphicFramePr>
          <cNvPr id="90" name="Table 1"/>
          <cNvGraphicFramePr>
            <a:graphicFrameLocks noGrp="1"/>
          </cNvGraphicFramePr>
          <nvPr/>
        </nvGraphicFramePr>
        <xfrm>
          <a:off x="731520" y="1371600"/>
          <a:ext cx="10058399" cy="4389120"/>
        </xfrm>
        <a:graphic>
          <a:graphicData uri="http://schemas.openxmlformats.org/drawingml/2006/table">
            <a:tbl>
              <a:tblPr firstRow="0" bandRow="0" firstCol="0" lastRow="0" lastCol="0"/>
              <a:tblGrid>
                <a:gridCol w="2560320"/>
                <a:gridCol w="7498079"/>
              </a:tblGrid>
              <a:tr h="731520">
                <a:tc rowSpan="2">
                  <a:txBody>
                    <a:bodyPr anchor="ctr"/>
                    <a:lstStyle/>
                    <a:p>
                      <a:pPr algn="ctr"/>
                      <a:r>
                        <a:rPr lang="en-US" b="1">
                          <a:solidFill>
                            <a:schemeClr val="lt1"/>
                          </a:solidFill>
                        </a:rPr>
                        <a:t>Elementary School</a:t>
                      </a:r>
                    </a:p>
                  </a:txBody>
                  <a:tcPr anchor="ctr">
                    <a:solidFill>
                      <a:schemeClr val="accent2"/>
                    </a:solidFill>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Focuses on introductory STEM courses and awareness of STEM occupations</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vMerge="1">
                  <a:txBody>
                    <a:bodyPr anchor="ctr"/>
                    <a:lstStyle/>
                    <a:p>
                      <a:pPr algn="ctr"/>
                      <a:endParaRPr lang="en-US"/>
                    </a:p>
                  </a:txBody>
                  <a:tcPr anchor="ctr">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Provides structured inquiry-based and real-world problem-based learning, connecting all four of the STEM subjects</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rowSpan="2">
                  <a:txBody>
                    <a:bodyPr anchor="ctr"/>
                    <a:lstStyle/>
                    <a:p>
                      <a:pPr algn="ctr"/>
                      <a:r>
                        <a:rPr lang="en-US" b="1">
                          <a:solidFill>
                            <a:schemeClr val="lt1"/>
                          </a:solidFill>
                        </a:rPr>
                        <a:t>Middle School</a:t>
                      </a:r>
                    </a:p>
                  </a:txBody>
                  <a:tcPr anchor="ctr">
                    <a:solidFill>
                      <a:schemeClr val="accent1"/>
                    </a:solidFill>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Courses become more rigorous and challenging</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vMerge="1">
                  <a:txBody>
                    <a:bodyPr anchor="ctr"/>
                    <a:lstStyle/>
                    <a:p>
                      <a:pPr algn="ctr"/>
                      <a:endParaRPr lang="en-US"/>
                    </a:p>
                  </a:txBody>
                  <a:tcPr anchor="ctr">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Student exploration of STEM-related careers begins at this level</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rowSpan="2">
                  <a:txBody>
                    <a:bodyPr anchor="ctr"/>
                    <a:lstStyle/>
                    <a:p>
                      <a:pPr algn="ctr"/>
                      <a:r>
                        <a:rPr lang="en-US" b="1">
                          <a:solidFill>
                            <a:schemeClr val="lt1"/>
                          </a:solidFill>
                        </a:rPr>
                        <a:t>High School</a:t>
                      </a:r>
                    </a:p>
                  </a:txBody>
                  <a:tcPr anchor="ctr">
                    <a:solidFill>
                      <a:schemeClr val="accent3"/>
                    </a:solidFill>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Focuses on the application of the subjects in a challenging and rigorous manner</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vMerge="1">
                  <a:txBody>
                    <a:bodyPr anchor="ctr"/>
                    <a:lstStyle/>
                    <a:p>
                      <a:pPr algn="ctr"/>
                      <a:endParaRPr lang="en-US"/>
                    </a:p>
                  </a:txBody>
                  <a:tcPr anchor="ctr">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Courses and pathways are now available in STEM fields and occupations</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bl>
          </a:graphicData>
        </a:graphic>
      </graphicFrame>
      <sp>
        <nvSpPr>
          <cNvPr id="250" name="Slide Number"/>
          <cNvSpPr>
            <a:spLocks noGrp="1"/>
          </cNvSpPr>
          <nvPr>
            <ph type="sldNum" sz="quarter" idx="12"/>
          </nvPr>
        </nvSpPr>
        <spPr/>
        <txBody>
          <a:bodyPr/>
          <a:lstStyle/>
          <a:p>
            <a:fld type="slidenum" id="{B6F15528-F159-4107-B29E-5A5F9D2E0204}">
              <a:rPr lang="en-US"/>
              <a:t>8</a:t>
            </a:fld>
          </a:p>
        </txBody>
      </sp>
    </spTree>
    <extLst>
      <ext uri="{BB962C8B-B14F-4D97-AF65-F5344CB8AC3E}">
        <p14:creationId val="303199342"/>
      </ext>
    </extLst>
  </cSld>
  <clrMapOvr>
    <a:masterClrMapping/>
  </clrMapOvr>
  <transition spd="med">
    <split orient="horz" dir="out"/>
  </transition>
</sld>
</file>

<file path=ppt/slides/slide10.xml><?xml version="1.0" encoding="utf-8"?>
<sld xmlns="http://schemas.openxmlformats.org/presentationml/2006/main" xmlns:a="http://schemas.openxmlformats.org/drawingml/2006/main" xmlns:a16="http://schemas.microsoft.com/office/drawing/2014/main" xmlns:p14="http://schemas.microsoft.com/office/powerpoint/2010/main" xmlns:r="http://schemas.openxmlformats.org/officeDocument/2006/relationships">
  <cSld>
    <spTree>
      <nvGrpSpPr>
        <cNvPr id="1" name="" descr="WkhAzwud6Mt0Z+YGzJJZOA/fFGBx6Ka+pFOsBbMPwovf1v2KKdXELlYKHUIx6RgC5PhMUGJetQ0zaQA6Ct+AvR4qUsjtuYWw-~omCbFj9YMAFMEKEpWumcGA=="/>
        <cNvGrpSpPr/>
        <nvPr/>
      </nvGrpSpPr>
      <grpSpPr>
        <a:xfrm>
          <a:off x="0" y="0"/>
          <a:ext cx="0" cy="0"/>
          <a:chOff x="0" y="0"/>
          <a:chExt cx="0" cy="0"/>
        </a:xfrm>
      </grpSpPr>
      <sp>
        <nvSpPr>
          <cNvPr id="2" name="Title 1" descr="VT0qRb2Bb7E0WPrnxgzyat13Vw9juY/N4UOgHv468j8czJhI5CQFV2vqW7SdfQjlP5e+QBTkD1L78olYs0MH4gkEjCGalEOG-~HUV3f16glVC6nWsselsg/g==">
            <a:extLst>
              <a:ext uri="{FF2B5EF4-FFF2-40B4-BE49-F238E27FC236}">
                <a16:creationId id="{071E1569-816D-4B85-AF93-A54053A5885C}"/>
              </a:ext>
            </a:extLst>
          </cNvPr>
          <cNvSpPr>
            <a:spLocks noGrp="1"/>
          </cNvSpPr>
          <nvPr>
            <ph type="title"/>
          </nvPr>
        </nvSpPr>
        <spPr/>
        <txBody>
          <a:bodyPr/>
          <a:lstStyle/>
          <a:p>
            <a:r>
              <a:rPr lang="en-US" dirty="0"/>
              <a:t>Elementary School</a:t>
            </a:r>
          </a:p>
        </txBody>
      </sp>
      <sp>
        <nvSpPr>
          <cNvPr id="13" name="Content Placeholder 12" descr="niUdpH/7GpJoCXx/4F2d8Bul3QELEBngbjrlB0wFnNsAy2cC2LmFVUqx5imfCkTRqiWiV9wMqgzw1diufud/m7dfvdElHSP1-~dxAYVZudFn4ZTs7eZKqLIA==">
            <a:extLst>
              <a:ext uri="{FF2B5EF4-FFF2-40B4-BE49-F238E27FC236}">
                <a16:creationId id="{D94BD276-21BD-4EC6-A54F-110B246D5746}"/>
              </a:ext>
            </a:extLst>
          </cNvPr>
          <cNvSpPr>
            <a:spLocks noGrp="1"/>
          </cNvSpPr>
          <nvPr>
            <ph sz="half" idx="1"/>
          </nvPr>
        </nvSpPr>
        <spPr/>
        <txBody>
          <a:bodyPr/>
          <a:lstStyle/>
          <a:p>
            <a:endParaRPr lang="en-US"/>
          </a:p>
        </txBody>
      </sp>
      <sp>
        <nvSpPr>
          <cNvPr id="14" name="Content Placeholder 13" descr="VP2rkCiFPfA/xoMcJidj5LfZwjVVdm9DodOoR+veQn38KqgqOlwVddZ3PDsGUg6w+nU7edzHA9fqEbUWCXsIR2gtYBPTjqkZ-~qwlWFoSwrGt7ZEdfzyqZXg==">
            <a:extLst>
              <a:ext uri="{FF2B5EF4-FFF2-40B4-BE49-F238E27FC236}">
                <a16:creationId id="{23AA7BD5-AEEB-4685-B497-CC320B67439F}"/>
              </a:ext>
            </a:extLst>
          </cNvPr>
          <cNvSpPr>
            <a:spLocks noGrp="1"/>
          </cNvSpPr>
          <nvPr>
            <ph sz="half" idx="2"/>
          </nvPr>
        </nvSpPr>
        <spPr/>
        <txBody>
          <a:bodyPr/>
          <a:lstStyle/>
          <a:p>
            <a:endParaRPr lang="en-US"/>
          </a:p>
        </txBody>
      </sp>
      <pic>
        <nvPicPr>
          <cNvPr id="883" name="ElementarySchool"/>
          <cNvPicPr>
            <a:picLocks noChangeAspect="1"/>
          </cNvPicPr>
          <nvPr/>
        </nvPicPr>
        <blipFill>
          <a:blip r:embed="rId3"/>
          <a:stretch>
            <a:fillRect/>
          </a:stretch>
        </blipFill>
        <spPr>
          <a:xfrm>
            <a:off x="457200" y="1371600"/>
            <a:ext cx="4572000" cy="4572000"/>
          </a:xfrm>
          <a:prstGeom prst="rect">
            <a:avLst/>
          </a:prstGeom>
          <a:ln w="88900">
            <a:solidFill>
              <a:schemeClr val="bg2">
                <a:lumMod val="50000"/>
                <a:lumOff val="50000"/>
              </a:schemeClr>
            </a:solidFill>
          </a:ln>
        </spPr>
      </pic>
      <pic>
        <nvPicPr>
          <cNvPr id="763" name="ElementarySchool2"/>
          <cNvPicPr>
            <a:picLocks noChangeAspect="1"/>
          </cNvPicPr>
          <nvPr/>
        </nvPicPr>
        <blipFill>
          <a:blip r:embed="rId4"/>
          <a:stretch>
            <a:fillRect/>
          </a:stretch>
        </blipFill>
        <spPr>
          <a:xfrm>
            <a:off x="5486400" y="1371600"/>
            <a:ext cx="4572000" cy="4572000"/>
          </a:xfrm>
          <a:prstGeom prst="rect">
            <a:avLst/>
          </a:prstGeom>
          <a:ln w="88900">
            <a:solidFill>
              <a:schemeClr val="bg2">
                <a:lumMod val="50000"/>
                <a:lumOff val="50000"/>
              </a:schemeClr>
            </a:solidFill>
          </a:ln>
        </spPr>
      </pic>
      <sp>
        <nvSpPr>
          <cNvPr id="250" name="Slide Number"/>
          <cNvSpPr>
            <a:spLocks noGrp="1"/>
          </cNvSpPr>
          <nvPr>
            <ph type="sldNum" sz="quarter" idx="12"/>
          </nvPr>
        </nvSpPr>
        <spPr/>
        <txBody>
          <a:bodyPr/>
          <a:lstStyle/>
          <a:p>
            <a:fld type="slidenum" id="{B6F15528-F159-4107-B29E-5A5F9D2E0204}">
              <a:rPr lang="en-US"/>
              <a:t>9</a:t>
            </a:fld>
          </a:p>
        </txBody>
      </sp>
    </spTree>
    <extLst>
      <ext uri="{BB962C8B-B14F-4D97-AF65-F5344CB8AC3E}">
        <p14:creationId val="1617941560"/>
      </ext>
    </extLst>
  </cSld>
  <clrMapOvr>
    <a:masterClrMapping/>
  </clrMapOvr>
  <transition spd="med">
    <split orient="horz" dir="out"/>
  </transition>
</sld>
</file>

<file path=ppt/slides/slide11.xml><?xml version="1.0" encoding="utf-8"?>
<sld xmlns="http://schemas.openxmlformats.org/presentationml/2006/main" xmlns:a="http://schemas.openxmlformats.org/drawingml/2006/main" xmlns:a16="http://schemas.microsoft.com/office/drawing/2014/main" xmlns:p14="http://schemas.microsoft.com/office/powerpoint/2010/main" xmlns:r="http://schemas.openxmlformats.org/officeDocument/2006/relationships">
  <cSld>
    <spTree>
      <nvGrpSpPr>
        <cNvPr id="1" name="" descr="WAVMaoO3cOkhQ3nx08jKIhySL14bWfwdCrq08gDJvisyYkLUb2TAxEf6C8RZtTW0+if25FlH6vcMF869wD6lT4IHqZMnT+bA-~jqkQCzFJNhIgWpjIsYo1Kw=="/>
        <cNvGrpSpPr/>
        <nvPr/>
      </nvGrpSpPr>
      <grpSpPr>
        <a:xfrm>
          <a:off x="0" y="0"/>
          <a:ext cx="0" cy="0"/>
          <a:chOff x="0" y="0"/>
          <a:chExt cx="0" cy="0"/>
        </a:xfrm>
      </grpSpPr>
      <sp>
        <nvSpPr>
          <cNvPr id="2" name="Title 1" descr="r7T17YGq3ajKgEcjlO/7IRLFYHv576i2j7LsODEJyO0iVQkZPcCLHwC5xrKSF8/ARhFhOPwclTdjCD9P6KYuLXRX/iddZs00-~iqVrb0Gv7RXEcCP6ZctlsQ==">
            <a:extLst>
              <a:ext uri="{FF2B5EF4-FFF2-40B4-BE49-F238E27FC236}">
                <a16:creationId id="{071E1569-816D-4B85-AF93-A54053A5885C}"/>
              </a:ext>
            </a:extLst>
          </cNvPr>
          <cNvSpPr>
            <a:spLocks noGrp="1"/>
          </cNvSpPr>
          <nvPr>
            <ph type="title"/>
          </nvPr>
        </nvSpPr>
        <spPr/>
        <txBody>
          <a:bodyPr/>
          <a:lstStyle/>
          <a:p>
            <a:r>
              <a:rPr lang="en-US" dirty="0"/>
              <a:t>Middle School</a:t>
            </a:r>
          </a:p>
        </txBody>
      </sp>
      <pic>
        <nvPicPr>
          <cNvPr id="30" name="MiddleSchool"/>
          <cNvPicPr>
            <a:picLocks noChangeAspect="1"/>
          </cNvPicPr>
          <nvPr/>
        </nvPicPr>
        <blipFill>
          <a:blip r:embed="rId3"/>
          <a:stretch>
            <a:fillRect/>
          </a:stretch>
        </blipFill>
        <spPr>
          <a:xfrm>
            <a:off x="6099048" y="365760"/>
            <a:ext cx="4572000" cy="6126480"/>
          </a:xfrm>
          <a:prstGeom prst="ellipse">
            <a:avLst/>
          </a:prstGeom>
          <a:ln w="88900">
            <a:solidFill>
              <a:schemeClr val="bg2">
                <a:lumMod val="50000"/>
                <a:lumOff val="50000"/>
              </a:schemeClr>
            </a:solidFill>
          </a:ln>
          <a:effectLst>
            <a:outerShdw blurRad="76200" dist="38100" dir="5400000" algn="tl">
              <a:srgbClr val="000000">
                <a:alpha val="40000"/>
              </a:srgbClr>
            </a:outerShdw>
          </a:effectLst>
        </spPr>
      </pic>
      <sp>
        <nvSpPr>
          <cNvPr id="250" name="Slide Number"/>
          <cNvSpPr>
            <a:spLocks noGrp="1"/>
          </cNvSpPr>
          <nvPr>
            <ph type="sldNum" sz="quarter" idx="12"/>
          </nvPr>
        </nvSpPr>
        <spPr/>
        <txBody>
          <a:bodyPr/>
          <a:lstStyle/>
          <a:p>
            <a:fld type="slidenum" id="{B6F15528-F159-4107-B29E-5A5F9D2E0204}">
              <a:rPr lang="en-US"/>
              <a:t>10</a:t>
            </a:fld>
          </a:p>
        </txBody>
      </sp>
    </spTree>
    <extLst>
      <ext uri="{BB962C8B-B14F-4D97-AF65-F5344CB8AC3E}">
        <p14:creationId val="2936547944"/>
      </ext>
    </extLst>
  </cSld>
  <clrMapOvr>
    <a:masterClrMapping/>
  </clrMapOvr>
  <transition spd="med">
    <split orient="horz" dir="out"/>
  </transition>
</sld>
</file>

<file path=ppt/slides/slide12.xml><?xml version="1.0" encoding="utf-8"?>
<sld xmlns="http://schemas.openxmlformats.org/presentationml/2006/main" xmlns:a="http://schemas.openxmlformats.org/drawingml/2006/main" xmlns:a16="http://schemas.microsoft.com/office/drawing/2014/main" xmlns:p14="http://schemas.microsoft.com/office/powerpoint/2010/main" xmlns:r="http://schemas.openxmlformats.org/officeDocument/2006/relationships">
  <cSld>
    <spTree>
      <nvGrpSpPr>
        <cNvPr id="1" name="" descr="R8WIUTjkkV8cOobcwdFhouA1gC7RlND9FO/L8B7ir5J1h8n0vAOE/wBGoazV6KNJ6mVe+8n9EDrlHBbZbqImMoVOM7tCjD8P-~SM7CLfCs72N5zNliuNioOQ=="/>
        <cNvGrpSpPr/>
        <nvPr/>
      </nvGrpSpPr>
      <grpSpPr>
        <a:xfrm>
          <a:off x="0" y="0"/>
          <a:ext cx="0" cy="0"/>
          <a:chOff x="0" y="0"/>
          <a:chExt cx="0" cy="0"/>
        </a:xfrm>
      </grpSpPr>
      <sp>
        <nvSpPr>
          <cNvPr id="2" name="Title 1" descr="AfDE9GWTc1BqzFZxC3nKE2rg5RvreDZbKoBfGHlmW8DZiR6RwhRa/lD5wn9GzIZ+1pZMrHWJY9KfRkmwXGZ2GXwgs9M4g55k-~vfZuYygv533bUQs3jtzBLg==">
            <a:extLst>
              <a:ext uri="{FF2B5EF4-FFF2-40B4-BE49-F238E27FC236}">
                <a16:creationId id="{071E1569-816D-4B85-AF93-A54053A5885C}"/>
              </a:ext>
            </a:extLst>
          </cNvPr>
          <cNvSpPr>
            <a:spLocks noGrp="1"/>
          </cNvSpPr>
          <nvPr>
            <ph type="title"/>
          </nvPr>
        </nvSpPr>
        <spPr/>
        <txBody>
          <a:bodyPr/>
          <a:lstStyle/>
          <a:p>
            <a:r>
              <a:rPr lang="en-US" dirty="0"/>
              <a:t>High School</a:t>
            </a:r>
          </a:p>
        </txBody>
      </sp>
      <sp>
        <nvSpPr>
          <cNvPr id="6" name="Content Placeholder 5" descr="fuWIoeXZVpxZQmGrD6hX1WyjH1Is09AhMsb7Kpvm3atBkDLXKSn2qXUE84NvUvhynTP8le/d1k+/+JysZEObcye6VaH94zPA-~IBxGPrrrkfKBsCiCjRQvfA==">
            <a:extLst>
              <a:ext uri="{FF2B5EF4-FFF2-40B4-BE49-F238E27FC236}">
                <a16:creationId id="{EDAEF8B8-4EF5-4551-891E-21405BBD6DFF}"/>
              </a:ext>
            </a:extLst>
          </cNvPr>
          <cNvSpPr>
            <a:spLocks noGrp="1"/>
          </cNvSpPr>
          <nvPr>
            <ph idx="1"/>
          </nvPr>
        </nvSpPr>
        <spPr/>
        <txBody>
          <a:bodyPr/>
          <a:lstStyle/>
          <a:p>
            <a:endParaRPr lang="en-US"/>
          </a:p>
        </txBody>
      </sp>
      <pic>
        <nvPicPr>
          <cNvPr id="40" name="HSVideo.mp4"/>
          <cNvPicPr>
            <a:picLocks noChangeAspect="1"/>
          </cNvPicPr>
          <nvPr>
            <a:videoFile r:link="rId3"/>
          </nvPr>
        </nvPicPr>
        <blipFill>
          <a:blip r:embed="rId3"/>
          <a:stretch>
            <a:fillRect/>
          </a:stretch>
        </blipFill>
        <spPr>
          <a:xfrm>
            <a:off x="1828800" y="1371600"/>
            <a:ext cx="7315200" cy="4572000"/>
          </a:xfrm>
          <a:prstGeom prst="rect">
            <a:avLst/>
          </a:prstGeom>
          <a:ln w="25400">
            <a:solidFill>
              <a:schemeClr val="bg2">
                <a:lumMod val="50000"/>
                <a:lumOff val="50000"/>
              </a:schemeClr>
            </a:solidFill>
          </a:ln>
          <a:effectLst>
            <a:outerShdw blurRad="190500" dist="228600" dir="2700000" sx="85000" sy="-23000" kx="800400" algn="bl">
              <a:srgbClr val="808080">
                <a:alpha val="43000"/>
              </a:srgbClr>
            </a:outerShdw>
          </a:effectLst>
        </spPr>
      </pic>
      <sp>
        <nvSpPr>
          <cNvPr id="250" name="Slide Number"/>
          <cNvSpPr>
            <a:spLocks noGrp="1"/>
          </cNvSpPr>
          <nvPr>
            <ph type="sldNum" sz="quarter" idx="12"/>
          </nvPr>
        </nvSpPr>
        <spPr/>
        <txBody>
          <a:bodyPr/>
          <a:lstStyle/>
          <a:p>
            <a:fld type="slidenum" id="{B6F15528-F159-4107-B29E-5A5F9D2E0204}">
              <a:rPr lang="en-US"/>
              <a:t>11</a:t>
            </a:fld>
          </a:p>
        </txBody>
      </sp>
    </spTree>
    <extLst>
      <ext uri="{BB962C8B-B14F-4D97-AF65-F5344CB8AC3E}">
        <p14:creationId val="2283754383"/>
      </ext>
    </extLst>
  </cSld>
  <clrMapOvr>
    <a:masterClrMapping/>
  </clrMapOvr>
  <transition spd="med">
    <split orient="horz" dir="out"/>
  </transition>
</sld>
</file>

<file path=ppt/slides/slide13.xml><?xml version="1.0" encoding="utf-8"?>
<sld xmlns="http://schemas.openxmlformats.org/presentationml/2006/main" xmlns:a="http://schemas.openxmlformats.org/drawingml/2006/main" xmlns:a16="http://schemas.microsoft.com/office/drawing/2014/main" xmlns:p14="http://schemas.microsoft.com/office/powerpoint/2010/main">
  <cSld>
    <spTree>
      <nvGrpSpPr>
        <cNvPr id="1" name="" descr="mtug8fnyQUIgHVd4S9jP/AiP01fiqtCbVwyq5ZyDGvegmTH6sP0ZKz6Vijz/JeJEZZEEZ9g5xkGss0rsaZ0z/xp0WBsIXAht-~DnLkjiWh+1jec31Kqvqk4A=="/>
        <cNvGrpSpPr/>
        <nvPr/>
      </nvGrpSpPr>
      <grpSpPr>
        <a:xfrm>
          <a:off x="0" y="0"/>
          <a:ext cx="0" cy="0"/>
          <a:chOff x="0" y="0"/>
          <a:chExt cx="0" cy="0"/>
        </a:xfrm>
      </grpSpPr>
      <sp>
        <nvSpPr>
          <cNvPr id="24" name="Rectangle 23" descr="XAUWIuSIsMRGOlRw46FHEBNjOKU/TgmjjCl1ydUQHbnTDpUHQwbFP0B2n48amFXzS1bUCGPK+kuXG39seF2gIsg9b1ZKXlXg-~eENZOPeYq3hE9ToK3qDBoQ=="/>
          <cNvSpPr/>
          <nvPr/>
        </nvSpPr>
        <spPr bwMode="auto">
          <a:xfrm>
            <a:off x="417498" y="215004"/>
            <a:ext cx="9144000" cy="990600"/>
          </a:xfrm>
          <a:prstGeom prst="rect">
            <a:avLst/>
          </a:prstGeom>
          <a:solidFill>
            <a:schemeClr val="bg1"/>
          </a:solidFill>
          <a:ln w="9525" cap="flat" cmpd="sng" algn="ctr">
            <a:noFill/>
            <a:prstDash val="solid"/>
            <a:round/>
            <a:headEnd type="none" w="med" len="med"/>
            <a:tailEnd type="none" w="med" len="med"/>
          </a:ln>
          <a:effectLst/>
        </spPr>
        <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ヒラギノ角ゴ Pro W3" pitchFamily="1" charset="-128"/>
            </a:endParaRPr>
          </a:p>
        </txBody>
      </sp>
      <sp>
        <nvSpPr>
          <cNvPr id="22" name="Slide Number Placeholder 21" descr="glRkyXAXmjS87s1Phc6CbJ2WvTNwzbQk0evt5HHx1NoebE6HCBTvUvFpOQ1DuxaPDYhhVSHM24H39rMMiVO6OxYk9NXQGqPe-~tH1tqo2IG1elLh46f+XLaA=="/>
          <cNvSpPr>
            <a:spLocks noGrp="1"/>
          </cNvSpPr>
          <nvPr>
            <ph type="sldNum" sz="quarter" idx="12"/>
          </nvPr>
        </nvSpPr>
        <spPr/>
        <txBody>
          <a:bodyPr/>
          <a:lstStyle/>
          <a:p>
            <a:fld id="{75E20B0C-19F5-1541-B0D6-F5C78F991D2B}" type="slidenum">
              <a:rPr lang="en-US" smtClean="0"/>
              <a:pPr/>
              <a:t>13</a:t>
            </a:fld>
            <a:endParaRPr lang="en-US" dirty="0"/>
          </a:p>
        </txBody>
      </sp>
      <sp>
        <nvSpPr>
          <cNvPr id="3" name="Title 2" descr="wn/xbH//HV8HR0fIbmNXxJGePRIbUbX+zOvKLq77MEzL5qVShoKaVZNl32P7ikxQRDRrNJ7IeSPam7waFappONKTSckRPDqN-~1lYAkbjUnoxekN2e1Ri/Tg==">
            <a:extLst>
              <a:ext uri="{FF2B5EF4-FFF2-40B4-BE49-F238E27FC236}">
                <a16:creationId id="{5D34247B-F186-4023-B9BD-6088277E37AB}"/>
              </a:ext>
            </a:extLst>
          </cNvPr>
          <cNvSpPr>
            <a:spLocks noGrp="1"/>
          </cNvSpPr>
          <nvPr>
            <ph type="title"/>
          </nvPr>
        </nvSpPr>
        <spPr>
          <a:xfrm>
            <a:off x="482814" y="108324"/>
            <a:ext cx="10505355" cy="1097280"/>
          </a:xfrm>
        </spPr>
        <txBody>
          <a:bodyPr>
            <a:normAutofit/>
          </a:bodyPr>
          <a:lstStyle/>
          <a:p>
            <a:r>
              <a:rPr lang="en-US" dirty="0"/>
              <a:t>State of  STEM Education in the US</a:t>
            </a:r>
          </a:p>
        </txBody>
      </sp>
      <sp>
        <nvSpPr>
          <cNvPr id="9" name="TextBox 8" descr="moNUTSxWeIpYQ8sXSCmZa9nL2zoY5RaPMk6UJjCGQ7SJP6ExkJqWQOL6oxPNw3kLRz3KqQzDBhIUFJ04ZRF8tIMyrg0HSh7X-~2ACHf1jTl4QP+UYGsxtcuw==">
            <a:extLst>
              <a:ext uri="{FF2B5EF4-FFF2-40B4-BE49-F238E27FC236}">
                <a16:creationId id="{5D230512-6476-445A-8C58-3AD238ED0262}"/>
              </a:ext>
            </a:extLst>
          </cNvPr>
          <cNvSpPr txBox="1"/>
          <nvPr/>
        </nvSpPr>
        <spPr>
          <a:xfrm>
            <a:off x="9944101" y="6360557"/>
            <a:ext cx="2162175" cy="369332"/>
          </a:xfrm>
          <a:prstGeom prst="rect">
            <a:avLst/>
          </a:prstGeom>
          <a:noFill/>
        </spPr>
        <txBody>
          <a:bodyPr wrap="square" rtlCol="0">
            <a:spAutoFit/>
          </a:bodyPr>
          <a:lstStyle/>
          <a:p>
            <a:r>
              <a:rPr lang="en-US" dirty="0"/>
              <a:t>Harris Interactive</a:t>
            </a:r>
          </a:p>
        </txBody>
      </sp>
      <graphicFrame>
        <nvGraphicFramePr>
          <cNvPr id="110" name="Object 1"/>
          <cNvGraphicFramePr/>
          <nvPr/>
        </nvGraphicFramePr>
        <xfrm>
          <a:off x="1280160" y="1737360"/>
          <a:ext cx="8229600" cy="4389120"/>
        </xfrm>
        <a:graphic>
          <a:graphicData uri="http://schemas.openxmlformats.org/presentationml/2006/ole"/>
        </a:graphic>
      </graphicFrame>
      <sp>
        <nvSpPr>
          <cNvPr id="250" name="Slide Number"/>
          <cNvSpPr>
            <a:spLocks noGrp="1"/>
          </cNvSpPr>
          <nvPr>
            <ph type="sldNum" sz="quarter" idx="12"/>
          </nvPr>
        </nvSpPr>
        <spPr/>
        <txBody>
          <a:bodyPr/>
          <a:lstStyle/>
          <a:p>
            <a:fld type="slidenum" id="{B6F15528-F159-4107-B29E-5A5F9D2E0204}">
              <a:rPr lang="en-US"/>
              <a:t>12</a:t>
            </a:fld>
          </a:p>
        </txBody>
      </sp>
    </spTree>
    <extLst>
      <ext uri="{BB962C8B-B14F-4D97-AF65-F5344CB8AC3E}">
        <p14:creationId val="888321194"/>
      </ext>
    </extLst>
  </cSld>
  <clrMapOvr>
    <a:masterClrMapping/>
  </clrMapOvr>
  <transition spd="med">
    <split orient="horz" dir="out"/>
  </transition>
</sld>
</file>

<file path=ppt/slides/slide14.xml><?xml version="1.0" encoding="utf-8"?>
<sld xmlns="http://schemas.openxmlformats.org/presentationml/2006/main" xmlns:a="http://schemas.openxmlformats.org/drawingml/2006/main" xmlns:a16="http://schemas.microsoft.com/office/drawing/2014/main" xmlns:ns4="http://schemas.microsoft.com/office/powerpoint/2015/main" xmlns:p14="http://schemas.microsoft.com/office/powerpoint/2010/main">
  <cSld>
    <spTree>
      <nvGrpSpPr>
        <cNvPr id="1" name="" descr="naNCDzPjQiwC0QjzNHT8ZjiXG/GKwnb4BjY/Pu4vjI6YYZdDffULFfgRNsvx1EKLAwjPLB54Rsx66vKzKwOyYSKULzKZzKZO-~N3g9o7E1VZTK+ytfFhNXLQ=="/>
        <cNvGrpSpPr/>
        <nvPr/>
      </nvGrpSpPr>
      <grpSpPr>
        <a:xfrm>
          <a:off x="0" y="0"/>
          <a:ext cx="0" cy="0"/>
          <a:chOff x="0" y="0"/>
          <a:chExt cx="0" cy="0"/>
        </a:xfrm>
      </grpSpPr>
      <sp>
        <nvSpPr>
          <cNvPr id="2" name="Title 1" descr="N3cGzjAHhdv4b2bnbLqBazYZdG2JMZSImOQqT2T/zwr9KNWMZhiKwuGasT+ZUJS0iIoCCtpA5wc8Mdm2VlDi8LgsM6k9jirp-~n1CECiYCk4QckJHwNkxNgg==">
            <a:extLst>
              <a:ext uri="{FF2B5EF4-FFF2-40B4-BE49-F238E27FC236}">
                <a16:creationId id="{AE5683A4-BA26-47AA-B49C-66D54B5EBC24}"/>
              </a:ext>
            </a:extLst>
          </cNvPr>
          <cNvSpPr>
            <a:spLocks noGrp="1"/>
          </cNvSpPr>
          <nvPr>
            <ph type="title"/>
          </nvPr>
        </nvSpPr>
        <spPr/>
        <txBody>
          <a:bodyPr/>
          <a:lstStyle/>
          <a:p>
            <a:r>
              <a:rPr lang="en-US" dirty="0"/>
              <a:t>Conclusion</a:t>
            </a:r>
          </a:p>
        </txBody>
      </sp>
      <sp>
        <nvSpPr>
          <cNvPr id="3" name="Content Placeholder 2" descr="1yo1sQqHJ3Sav1+tOlh36e8jAUPm75/bJ8ueFGcRanRzbQRCpemHscwQSLJw10Ry9S+5VlfV+2ddQB3Kg/e0wqvAdYTVwLxt-~xV90Xrr6eN7GkpeCH3/9SA==">
            <a:extLst>
              <a:ext uri="{FF2B5EF4-FFF2-40B4-BE49-F238E27FC236}">
                <a16:creationId id="{0B9B6B94-5013-4F80-831A-8CC83CDA7CE6}"/>
              </a:ext>
            </a:extLst>
          </cNvPr>
          <cNvSpPr>
            <a:spLocks noGrp="1"/>
          </cNvSpPr>
          <nvPr>
            <ph idx="1"/>
          </nvPr>
        </nvSpPr>
        <spPr/>
        <txBody>
          <a:bodyPr/>
          <a:lstStyle/>
          <a:p>
            <a:r>
              <a:rPr lang="en-US" sz="2400" dirty="0"/>
              <a:t>STEM education critical for US to remain world leader</a:t>
            </a:r>
          </a:p>
          <a:p>
            <a:r>
              <a:rPr lang="en-US" sz="2400" dirty="0"/>
              <a:t>If not improved, US will continue to fall in world ranking in math and science</a:t>
            </a:r>
          </a:p>
          <a:p>
            <a:r>
              <a:rPr lang="en-US" sz="2400" dirty="0"/>
              <a:t>STEM education in schools important to spark interest in pursuing STEM career</a:t>
            </a:r>
          </a:p>
          <a:p>
            <a:r>
              <a:rPr lang="en-US" sz="2400" dirty="0"/>
              <a:t>Teachers cannot carry the whole burden, parents and the </a:t>
            </a:r>
            <a:r>
              <a:rPr lang="en-US" sz="2400" dirty="0" err="1"/>
              <a:t>comunity</a:t>
            </a:r>
            <a:r>
              <a:rPr lang="en-US" sz="2400" dirty="0"/>
              <a:t> must encourage STEM activities and increase awareness</a:t>
            </a:r>
          </a:p>
        </txBody>
      </sp>
      <sp>
        <nvSpPr>
          <cNvPr id="250" name="Slide Number"/>
          <cNvSpPr>
            <a:spLocks noGrp="1"/>
          </cNvSpPr>
          <nvPr>
            <ph type="sldNum" sz="quarter" idx="12"/>
          </nvPr>
        </nvSpPr>
        <spPr/>
        <txBody>
          <a:bodyPr/>
          <a:lstStyle/>
          <a:p>
            <a:fld type="slidenum" id="{B6F15528-F159-4107-B29E-5A5F9D2E0204}">
              <a:rPr lang="en-US"/>
              <a:t>13</a:t>
            </a:fld>
          </a:p>
        </txBody>
      </sp>
    </spTree>
    <extLst>
      <ext uri="{BB962C8B-B14F-4D97-AF65-F5344CB8AC3E}">
        <p14:creationId val="557149883"/>
      </ext>
    </extLst>
  </cSld>
  <clrMapOvr>
    <a:masterClrMapping/>
  </clrMapOvr>
  <transition spd="med">
    <ns4:morph option="char"/>
  </transition>
</sld>
</file>

<file path=ppt/slides/slide15.xml><?xml version="1.0" encoding="utf-8"?>
<sld xmlns="http://schemas.openxmlformats.org/presentationml/2006/main" xmlns:a="http://schemas.openxmlformats.org/drawingml/2006/main" xmlns:a16="http://schemas.microsoft.com/office/drawing/2014/main" xmlns:ns4="http://schemas.microsoft.com/office/drawing/2017/decorative" xmlns:ns5="http://schemas.microsoft.com/office/powerpoint/2015/main" xmlns:r="http://schemas.openxmlformats.org/officeDocument/2006/relationships">
  <cSld>
    <bg>
      <bgPr>
        <a:blipFill dpi="0" rotWithShape="1">
          <a:blip r:embed="rId3">
            <a:lum/>
          </a:blip>
          <a:srcRect/>
          <a:stretch>
            <a:fillRect t="-17000" b="-17000"/>
          </a:stretch>
        </a:blipFill>
        <a:effectLst/>
      </bgPr>
    </bg>
    <spTree>
      <nvGrpSpPr>
        <cNvPr id="1" name=""/>
        <cNvGrpSpPr/>
        <nvPr/>
      </nvGrpSpPr>
      <grpSpPr>
        <a:xfrm>
          <a:off x="0" y="0"/>
          <a:ext cx="0" cy="0"/>
          <a:chOff x="0" y="0"/>
          <a:chExt cx="0" cy="0"/>
        </a:xfrm>
      </grpSpPr>
      <sp>
        <nvSpPr>
          <cNvPr id="36869" name="Freeform 5">
            <a:extLst>
              <a:ext uri="{FF2B5EF4-FFF2-40B4-BE49-F238E27FC236}">
                <a16:creationId id="{3CD9DF72-87A3-404E-A828-84CBF11A8303}"/>
              </a:ext>
              <a:ext uri="{C183D7F6-B498-43B3-948B-1728B52AA6E4}">
                <ns4:decorative val="1"/>
              </a:ext>
            </a:extLst>
          </cNvPr>
          <cNvSpPr>
            <a:spLocks noGrp="1" noRot="1" noChangeAspect="1" noMove="1" noResize="1" noEditPoints="1" noAdjustHandles="1" noChangeArrowheads="1" noChangeShapeType="1" noTextEdit="1"/>
          </cNvSpPr>
          <nvPr>
            <extLst>
              <ext uri="{386F3935-93C4-4BCD-93E2-E3B085C9AB24}">
                <ns5:designElem val="1"/>
              </ext>
            </extLst>
          </nvPr>
        </nvSpPr>
        <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spPr>
        <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txBody>
      </sp>
      <sp>
        <nvSpPr>
          <cNvPr id="36866" name="Rectangle 1">
            <a:extLst>
              <a:ext uri="{FF2B5EF4-FFF2-40B4-BE49-F238E27FC236}">
                <a16:creationId id="{9788E982-BDB7-4776-8006-0E4601FF3252}"/>
              </a:ext>
            </a:extLst>
          </cNvPr>
          <cNvSpPr>
            <a:spLocks noGrp="1" noChangeArrowheads="1"/>
          </cNvSpPr>
          <nvPr>
            <ph type="title"/>
          </nvPr>
        </nvSpPr>
        <spPr>
          <a:xfrm>
            <a:off x="709448" y="1913950"/>
            <a:ext cx="4204137" cy="1342754"/>
          </a:xfrm>
        </spPr>
        <txBody>
          <a:bodyPr>
            <a:normAutofit/>
          </a:bodyPr>
          <a:lstStyle/>
          <a:p>
            <a:pPr algn="ctr" eaLnBrk="1" hangingPunct="1"/>
            <a:r>
              <a:rPr lang="en-US" altLang="en-US" sz="3600" dirty="0"/>
              <a:t>Some Science Careers:</a:t>
            </a:r>
          </a:p>
        </txBody>
      </sp>
      <cxnSp>
        <nvCxnSpPr>
          <cNvPr id="36870" name="Straight Connector 73">
            <a:extLst>
              <a:ext uri="{FF2B5EF4-FFF2-40B4-BE49-F238E27FC236}">
                <a16:creationId id="{20E3A342-4D61-4E3F-AF90-1AB42AEB96CC}"/>
              </a:ext>
              <a:ext uri="{C183D7F6-B498-43B3-948B-1728B52AA6E4}">
                <ns4:decorative val="1"/>
              </a:ext>
            </a:extLst>
          </cNvPr>
          <cNvCxnSpPr>
            <a:cxnSpLocks noGrp="1" noRot="1" noChangeAspect="1" noMove="1" noResize="1" noEditPoints="1" noAdjustHandles="1" noChangeArrowheads="1" noChangeShapeType="1"/>
          </cNvCxnSpPr>
          <nvPr>
            <extLst>
              <ext uri="{386F3935-93C4-4BCD-93E2-E3B085C9AB24}">
                <ns5:designElem val="1"/>
              </ext>
            </extLst>
          </nvPr>
        </nvCxnSpPr>
        <spPr>
          <a:xfrm>
            <a:off x="2287051" y="3337139"/>
            <a:ext cx="935420" cy="0"/>
          </a:xfrm>
          <a:prstGeom prst="line">
            <a:avLst/>
          </a:prstGeom>
          <a:ln w="25400" cap="sq">
            <a:solidFill>
              <a:schemeClr val="tx1">
                <a:lumMod val="85000"/>
                <a:lumOff val="15000"/>
              </a:schemeClr>
            </a:solidFill>
            <a:bevel/>
          </a:ln>
        </spPr>
        <style>
          <a:lnRef idx="1">
            <a:schemeClr val="accent1"/>
          </a:lnRef>
          <a:fillRef idx="0">
            <a:schemeClr val="accent1"/>
          </a:fillRef>
          <a:effectRef idx="0">
            <a:schemeClr val="accent1"/>
          </a:effectRef>
          <a:fontRef idx="minor">
            <a:schemeClr val="tx1"/>
          </a:fontRef>
        </style>
      </cxnSp>
      <sp>
        <nvSpPr>
          <cNvPr id="36867" name="Rectangle 2">
            <a:extLst>
              <a:ext uri="{FF2B5EF4-FFF2-40B4-BE49-F238E27FC236}">
                <a16:creationId id="{5D9F8E70-2B09-46E5-81C8-A143E6A10CF0}"/>
              </a:ext>
            </a:extLst>
          </cNvPr>
          <cNvSpPr>
            <a:spLocks noGrp="1" noChangeArrowheads="1"/>
          </cNvSpPr>
          <nvPr>
            <ph type="body" idx="1"/>
          </nvPr>
        </nvSpPr>
        <spPr>
          <a:xfrm>
            <a:off x="525516" y="3417573"/>
            <a:ext cx="4593021" cy="3015125"/>
          </a:xfrm>
        </spPr>
        <txBody>
          <a:bodyPr anchor="ctr">
            <a:normAutofit lnSpcReduction="10000"/>
          </a:bodyPr>
          <a:lstStyle/>
          <a:p>
            <a:pPr marL="621708" lvl="1" indent="-362756"/>
            <a:r>
              <a:rPr lang="en-US" altLang="en-US" sz="1800" dirty="0"/>
              <a:t>Agricultural and food scientists</a:t>
            </a:r>
          </a:p>
          <a:p>
            <a:pPr marL="621708" lvl="1" indent="-362756">
              <a:spcBef>
                <a:spcPts val="844"/>
              </a:spcBef>
            </a:pPr>
            <a:r>
              <a:rPr lang="en-US" altLang="en-US" sz="1800" dirty="0"/>
              <a:t>Biological scientists</a:t>
            </a:r>
          </a:p>
          <a:p>
            <a:pPr marL="621708" lvl="1" indent="-362756">
              <a:spcBef>
                <a:spcPts val="844"/>
              </a:spcBef>
            </a:pPr>
            <a:r>
              <a:rPr lang="en-US" altLang="en-US" sz="1800" dirty="0"/>
              <a:t>Conservation scientists and foresters</a:t>
            </a:r>
          </a:p>
          <a:p>
            <a:pPr marL="621708" lvl="1" indent="-362756">
              <a:spcBef>
                <a:spcPts val="844"/>
              </a:spcBef>
            </a:pPr>
            <a:r>
              <a:rPr lang="en-US" altLang="en-US" sz="1800" dirty="0"/>
              <a:t>Medical scientists</a:t>
            </a:r>
          </a:p>
          <a:p>
            <a:pPr marL="621708" lvl="1" indent="-362756">
              <a:spcBef>
                <a:spcPts val="844"/>
              </a:spcBef>
            </a:pPr>
            <a:r>
              <a:rPr lang="en-US" altLang="en-US" sz="1800" dirty="0"/>
              <a:t>Atmospheric scientists</a:t>
            </a:r>
          </a:p>
          <a:p>
            <a:pPr marL="621708" lvl="1" indent="-362756">
              <a:spcBef>
                <a:spcPts val="844"/>
              </a:spcBef>
            </a:pPr>
            <a:r>
              <a:rPr lang="en-US" altLang="en-US" sz="1800" dirty="0"/>
              <a:t>Chemists and materials scientists</a:t>
            </a:r>
          </a:p>
          <a:p>
            <a:pPr marL="621708" lvl="1" indent="-362756">
              <a:spcBef>
                <a:spcPts val="844"/>
              </a:spcBef>
            </a:pPr>
            <a:r>
              <a:rPr lang="en-US" altLang="en-US" sz="1800" dirty="0"/>
              <a:t>Environmental scientists and specialists</a:t>
            </a:r>
          </a:p>
          <a:p>
            <a:pPr marL="621708" lvl="1" indent="-362756">
              <a:spcBef>
                <a:spcPts val="844"/>
              </a:spcBef>
            </a:pPr>
            <a:r>
              <a:rPr lang="en-US" altLang="en-US" sz="1800" dirty="0"/>
              <a:t>Geoscientists and hydrologists</a:t>
            </a:r>
          </a:p>
          <a:p>
            <a:pPr marL="621708" lvl="1" indent="-362756">
              <a:spcBef>
                <a:spcPts val="844"/>
              </a:spcBef>
            </a:pPr>
            <a:r>
              <a:rPr lang="en-US" altLang="en-US" sz="1800" dirty="0"/>
              <a:t>Physicists and astronomers</a:t>
            </a:r>
          </a:p>
        </txBody>
      </sp>
      <sp>
        <nvSpPr>
          <cNvPr id="250" name="Slide Number"/>
          <cNvSpPr>
            <a:spLocks noGrp="1"/>
          </cNvSpPr>
          <nvPr>
            <ph type="sldNum" sz="quarter" idx="12"/>
          </nvPr>
        </nvSpPr>
        <spPr/>
        <txBody>
          <a:bodyPr/>
          <a:lstStyle/>
          <a:p>
            <a:fld type="slidenum" id="{B6F15528-F159-4107-B29E-5A5F9D2E0204}">
              <a:rPr lang="en-US"/>
              <a:t>14</a:t>
            </a:fld>
          </a:p>
        </txBody>
      </sp>
    </spTree>
  </cSld>
  <clrMapOvr>
    <a:masterClrMapping/>
  </clrMapOvr>
  <transition spd="med">
    <ns5:morph option="char"/>
  </transition>
</sld>
</file>

<file path=ppt/slides/slide16.xml><?xml version="1.0" encoding="utf-8"?>
<sld xmlns="http://schemas.openxmlformats.org/presentationml/2006/main" xmlns:a="http://schemas.openxmlformats.org/drawingml/2006/main" xmlns:a16="http://schemas.microsoft.com/office/drawing/2014/main" xmlns:ns4="http://schemas.microsoft.com/office/drawing/2017/decorative" xmlns:ns5="http://schemas.microsoft.com/office/powerpoint/2015/main" xmlns:r="http://schemas.openxmlformats.org/officeDocument/2006/relationships">
  <cSld>
    <bg>
      <bgPr>
        <a:blipFill dpi="0" rotWithShape="1">
          <a:blip r:embed="rId3">
            <a:lum/>
          </a:blip>
          <a:srcRect/>
          <a:stretch>
            <a:fillRect t="-9000" b="-9000"/>
          </a:stretch>
        </a:blipFill>
        <a:effectLst/>
      </bgPr>
    </bg>
    <spTree>
      <nvGrpSpPr>
        <cNvPr id="1" name=""/>
        <cNvGrpSpPr/>
        <nvPr/>
      </nvGrpSpPr>
      <grpSpPr>
        <a:xfrm>
          <a:off x="0" y="0"/>
          <a:ext cx="0" cy="0"/>
          <a:chOff x="0" y="0"/>
          <a:chExt cx="0" cy="0"/>
        </a:xfrm>
      </grpSpPr>
      <sp>
        <nvSpPr>
          <cNvPr id="136" name="Freeform 5">
            <a:extLst>
              <a:ext uri="{FF2B5EF4-FFF2-40B4-BE49-F238E27FC236}">
                <a16:creationId id="{3CD9DF72-87A3-404E-A828-84CBF11A8303}"/>
              </a:ext>
              <a:ext uri="{C183D7F6-B498-43B3-948B-1728B52AA6E4}">
                <ns4:decorative val="1"/>
              </a:ext>
            </a:extLst>
          </cNvPr>
          <cNvSpPr>
            <a:spLocks noGrp="1" noRot="1" noChangeAspect="1" noMove="1" noResize="1" noEditPoints="1" noAdjustHandles="1" noChangeArrowheads="1" noChangeShapeType="1" noTextEdit="1"/>
          </cNvSpPr>
          <nvPr>
            <extLst>
              <ext uri="{386F3935-93C4-4BCD-93E2-E3B085C9AB24}">
                <ns5:designElem val="1"/>
              </ext>
            </extLst>
          </nvPr>
        </nvSpPr>
        <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spPr>
        <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txBody>
      </sp>
      <sp>
        <nvSpPr>
          <cNvPr id="37890" name="Rectangle 1">
            <a:extLst>
              <a:ext uri="{FF2B5EF4-FFF2-40B4-BE49-F238E27FC236}">
                <a16:creationId id="{190564C8-C2E7-4339-A966-8081B0BCA794}"/>
              </a:ext>
            </a:extLst>
          </cNvPr>
          <cNvSpPr>
            <a:spLocks noGrp="1" noChangeArrowheads="1"/>
          </cNvSpPr>
          <nvPr>
            <ph type="title"/>
          </nvPr>
        </nvSpPr>
        <spPr>
          <a:xfrm>
            <a:off x="709448" y="1913950"/>
            <a:ext cx="4204137" cy="1342754"/>
          </a:xfrm>
        </spPr>
        <txBody>
          <a:bodyPr>
            <a:normAutofit/>
          </a:bodyPr>
          <a:lstStyle/>
          <a:p>
            <a:pPr algn="ctr" eaLnBrk="1" hangingPunct="1"/>
            <a:r>
              <a:rPr lang="en-US" altLang="en-US" sz="3600"/>
              <a:t>Some Technology Careers:</a:t>
            </a:r>
          </a:p>
        </txBody>
      </sp>
      <cxnSp>
        <nvCxnSpPr>
          <cNvPr id="138" name="Straight Connector 137">
            <a:extLst>
              <a:ext uri="{FF2B5EF4-FFF2-40B4-BE49-F238E27FC236}">
                <a16:creationId id="{20E3A342-4D61-4E3F-AF90-1AB42AEB96CC}"/>
              </a:ext>
              <a:ext uri="{C183D7F6-B498-43B3-948B-1728B52AA6E4}">
                <ns4:decorative val="1"/>
              </a:ext>
            </a:extLst>
          </cNvPr>
          <cNvCxnSpPr>
            <a:cxnSpLocks noGrp="1" noRot="1" noChangeAspect="1" noMove="1" noResize="1" noEditPoints="1" noAdjustHandles="1" noChangeArrowheads="1" noChangeShapeType="1"/>
          </cNvCxnSpPr>
          <nvPr>
            <extLst>
              <ext uri="{386F3935-93C4-4BCD-93E2-E3B085C9AB24}">
                <ns5:designElem val="1"/>
              </ext>
            </extLst>
          </nvPr>
        </nvCxnSpPr>
        <spPr>
          <a:xfrm>
            <a:off x="2287051" y="3337139"/>
            <a:ext cx="935420" cy="0"/>
          </a:xfrm>
          <a:prstGeom prst="line">
            <a:avLst/>
          </a:prstGeom>
          <a:ln w="25400" cap="sq">
            <a:solidFill>
              <a:schemeClr val="tx1">
                <a:lumMod val="85000"/>
                <a:lumOff val="15000"/>
              </a:schemeClr>
            </a:solidFill>
            <a:bevel/>
          </a:ln>
        </spPr>
        <style>
          <a:lnRef idx="1">
            <a:schemeClr val="accent1"/>
          </a:lnRef>
          <a:fillRef idx="0">
            <a:schemeClr val="accent1"/>
          </a:fillRef>
          <a:effectRef idx="0">
            <a:schemeClr val="accent1"/>
          </a:effectRef>
          <a:fontRef idx="minor">
            <a:schemeClr val="tx1"/>
          </a:fontRef>
        </style>
      </cxnSp>
      <sp>
        <nvSpPr>
          <cNvPr id="37891" name="Rectangle 2">
            <a:extLst>
              <a:ext uri="{FF2B5EF4-FFF2-40B4-BE49-F238E27FC236}">
                <a16:creationId id="{0348A4C0-4E1F-4951-85B2-65E3EC059DFC}"/>
              </a:ext>
            </a:extLst>
          </cNvPr>
          <cNvSpPr>
            <a:spLocks noGrp="1" noChangeArrowheads="1"/>
          </cNvSpPr>
          <nvPr>
            <ph type="body" idx="1"/>
          </nvPr>
        </nvSpPr>
        <spPr>
          <a:xfrm>
            <a:off x="525516" y="3417573"/>
            <a:ext cx="4593021" cy="2619839"/>
          </a:xfrm>
        </spPr>
        <txBody>
          <a:bodyPr anchor="ctr">
            <a:normAutofit/>
          </a:bodyPr>
          <a:lstStyle/>
          <a:p>
            <a:pPr marL="750518" indent="-342900"/>
            <a:r>
              <a:rPr lang="en-US" altLang="en-US" sz="1800" dirty="0"/>
              <a:t>Computer network, systems, and database administrators</a:t>
            </a:r>
          </a:p>
          <a:p>
            <a:pPr marL="750518" indent="-342900"/>
            <a:r>
              <a:rPr lang="en-US" altLang="en-US" sz="1800" dirty="0"/>
              <a:t>Computer scientists</a:t>
            </a:r>
          </a:p>
          <a:p>
            <a:pPr marL="750518" indent="-342900"/>
            <a:r>
              <a:rPr lang="en-US" altLang="en-US" sz="1800" dirty="0"/>
              <a:t>Computer software engineers and computer programmers</a:t>
            </a:r>
          </a:p>
          <a:p>
            <a:pPr marL="750518" indent="-342900"/>
            <a:r>
              <a:rPr lang="en-US" altLang="en-US" sz="1800" dirty="0"/>
              <a:t>Computer support specialists</a:t>
            </a:r>
          </a:p>
          <a:p>
            <a:pPr marL="750518" indent="-342900"/>
            <a:r>
              <a:rPr lang="en-US" altLang="en-US" sz="1800" dirty="0"/>
              <a:t>Computer systems analysts</a:t>
            </a:r>
          </a:p>
        </txBody>
      </sp>
      <sp>
        <nvSpPr>
          <cNvPr id="250" name="Slide Number"/>
          <cNvSpPr>
            <a:spLocks noGrp="1"/>
          </cNvSpPr>
          <nvPr>
            <ph type="sldNum" sz="quarter" idx="12"/>
          </nvPr>
        </nvSpPr>
        <spPr/>
        <txBody>
          <a:bodyPr/>
          <a:lstStyle/>
          <a:p>
            <a:fld type="slidenum" id="{B6F15528-F159-4107-B29E-5A5F9D2E0204}">
              <a:rPr lang="en-US"/>
              <a:t>15</a:t>
            </a:fld>
          </a:p>
        </txBody>
      </sp>
    </spTree>
  </cSld>
  <clrMapOvr>
    <a:masterClrMapping/>
  </clrMapOvr>
  <transition spd="med">
    <ns5:morph option="char"/>
  </transition>
</sld>
</file>

<file path=ppt/slides/slide17.xml><?xml version="1.0" encoding="utf-8"?>
<sld xmlns="http://schemas.openxmlformats.org/presentationml/2006/main" xmlns:a="http://schemas.openxmlformats.org/drawingml/2006/main" xmlns:a16="http://schemas.microsoft.com/office/drawing/2014/main" xmlns:ns4="http://schemas.microsoft.com/office/drawing/2017/decorative" xmlns:ns5="http://schemas.microsoft.com/office/powerpoint/2015/main" xmlns:r="http://schemas.openxmlformats.org/officeDocument/2006/relationships">
  <cSld>
    <bg>
      <bgPr>
        <a:blipFill dpi="0" rotWithShape="1">
          <a:blip r:embed="rId3">
            <a:lum/>
          </a:blip>
          <a:srcRect/>
          <a:stretch>
            <a:fillRect t="-7000" b="-7000"/>
          </a:stretch>
        </a:blipFill>
        <a:effectLst/>
      </bgPr>
    </bg>
    <spTree>
      <nvGrpSpPr>
        <cNvPr id="1" name=""/>
        <cNvGrpSpPr/>
        <nvPr/>
      </nvGrpSpPr>
      <grpSpPr>
        <a:xfrm>
          <a:off x="0" y="0"/>
          <a:ext cx="0" cy="0"/>
          <a:chOff x="0" y="0"/>
          <a:chExt cx="0" cy="0"/>
        </a:xfrm>
      </grpSpPr>
      <sp>
        <nvSpPr>
          <cNvPr id="72" name="Freeform 5">
            <a:extLst>
              <a:ext uri="{FF2B5EF4-FFF2-40B4-BE49-F238E27FC236}">
                <a16:creationId id="{3CD9DF72-87A3-404E-A828-84CBF11A8303}"/>
              </a:ext>
              <a:ext uri="{C183D7F6-B498-43B3-948B-1728B52AA6E4}">
                <ns4:decorative val="1"/>
              </a:ext>
            </a:extLst>
          </cNvPr>
          <cNvSpPr>
            <a:spLocks noGrp="1" noRot="1" noChangeAspect="1" noMove="1" noResize="1" noEditPoints="1" noAdjustHandles="1" noChangeArrowheads="1" noChangeShapeType="1" noTextEdit="1"/>
          </cNvSpPr>
          <nvPr>
            <extLst>
              <ext uri="{386F3935-93C4-4BCD-93E2-E3B085C9AB24}">
                <ns5:designElem val="1"/>
              </ext>
            </extLst>
          </nvPr>
        </nvSpPr>
        <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spPr>
        <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txBody>
      </sp>
      <sp>
        <nvSpPr>
          <cNvPr id="38914" name="Rectangle 1">
            <a:extLst>
              <a:ext uri="{FF2B5EF4-FFF2-40B4-BE49-F238E27FC236}">
                <a16:creationId id="{93EE0BCB-0C0D-4870-8DBD-CEC5EC06B024}"/>
              </a:ext>
            </a:extLst>
          </cNvPr>
          <cNvSpPr>
            <a:spLocks noGrp="1" noChangeArrowheads="1"/>
          </cNvSpPr>
          <nvPr>
            <ph type="title"/>
          </nvPr>
        </nvSpPr>
        <spPr>
          <a:xfrm>
            <a:off x="709448" y="1913950"/>
            <a:ext cx="4204137" cy="1342754"/>
          </a:xfrm>
        </spPr>
        <txBody>
          <a:bodyPr>
            <a:normAutofit/>
          </a:bodyPr>
          <a:lstStyle/>
          <a:p>
            <a:pPr algn="ctr" eaLnBrk="1" hangingPunct="1"/>
            <a:r>
              <a:rPr lang="en-US" altLang="en-US" sz="3600" dirty="0"/>
              <a:t>Some Engineering Fields:</a:t>
            </a:r>
          </a:p>
        </txBody>
      </sp>
      <cxnSp>
        <nvCxnSpPr>
          <cNvPr id="74" name="Straight Connector 73">
            <a:extLst>
              <a:ext uri="{FF2B5EF4-FFF2-40B4-BE49-F238E27FC236}">
                <a16:creationId id="{20E3A342-4D61-4E3F-AF90-1AB42AEB96CC}"/>
              </a:ext>
              <a:ext uri="{C183D7F6-B498-43B3-948B-1728B52AA6E4}">
                <ns4:decorative val="1"/>
              </a:ext>
            </a:extLst>
          </cNvPr>
          <cNvCxnSpPr>
            <a:cxnSpLocks noGrp="1" noRot="1" noChangeAspect="1" noMove="1" noResize="1" noEditPoints="1" noAdjustHandles="1" noChangeArrowheads="1" noChangeShapeType="1"/>
          </cNvCxnSpPr>
          <nvPr>
            <extLst>
              <ext uri="{386F3935-93C4-4BCD-93E2-E3B085C9AB24}">
                <ns5:designElem val="1"/>
              </ext>
            </extLst>
          </nvPr>
        </nvCxnSpPr>
        <spPr>
          <a:xfrm>
            <a:off x="2287051" y="3337139"/>
            <a:ext cx="935420" cy="0"/>
          </a:xfrm>
          <a:prstGeom prst="line">
            <a:avLst/>
          </a:prstGeom>
          <a:ln w="25400" cap="sq">
            <a:solidFill>
              <a:schemeClr val="tx1">
                <a:lumMod val="85000"/>
                <a:lumOff val="15000"/>
              </a:schemeClr>
            </a:solidFill>
            <a:bevel/>
          </a:ln>
        </spPr>
        <style>
          <a:lnRef idx="1">
            <a:schemeClr val="accent1"/>
          </a:lnRef>
          <a:fillRef idx="0">
            <a:schemeClr val="accent1"/>
          </a:fillRef>
          <a:effectRef idx="0">
            <a:schemeClr val="accent1"/>
          </a:effectRef>
          <a:fontRef idx="minor">
            <a:schemeClr val="tx1"/>
          </a:fontRef>
        </style>
      </cxnSp>
      <sp>
        <nvSpPr>
          <cNvPr id="38915" name="Rectangle 2">
            <a:extLst>
              <a:ext uri="{FF2B5EF4-FFF2-40B4-BE49-F238E27FC236}">
                <a16:creationId id="{A26A5947-0EB4-4D26-8264-DAE8F76C90DB}"/>
              </a:ext>
            </a:extLst>
          </cNvPr>
          <cNvSpPr>
            <a:spLocks noGrp="1" noChangeArrowheads="1"/>
          </cNvSpPr>
          <nvPr>
            <ph type="body" idx="1"/>
          </nvPr>
        </nvSpPr>
        <spPr>
          <a:xfrm>
            <a:off x="525516" y="3417572"/>
            <a:ext cx="4865191" cy="2765257"/>
          </a:xfrm>
        </spPr>
        <txBody>
          <a:bodyPr numCol="2" anchor="ctr">
            <a:normAutofit/>
          </a:bodyPr>
          <a:lstStyle/>
          <a:p>
            <a:pPr marL="642024" indent="-285750">
              <a:spcBef>
                <a:spcPct val="0"/>
              </a:spcBef>
              <a:spcAft>
                <a:spcPts val="600"/>
              </a:spcAft>
            </a:pPr>
            <a:r>
              <a:rPr lang="en-US" altLang="en-US" sz="1800" dirty="0"/>
              <a:t>Aerospace  </a:t>
            </a:r>
          </a:p>
          <a:p>
            <a:pPr marL="642024" indent="-285750">
              <a:spcBef>
                <a:spcPct val="0"/>
              </a:spcBef>
              <a:spcAft>
                <a:spcPts val="600"/>
              </a:spcAft>
            </a:pPr>
            <a:r>
              <a:rPr lang="en-US" altLang="en-US" sz="1800" dirty="0"/>
              <a:t>Agricultural  </a:t>
            </a:r>
          </a:p>
          <a:p>
            <a:pPr marL="642024" indent="-285750">
              <a:spcBef>
                <a:spcPct val="0"/>
              </a:spcBef>
              <a:spcAft>
                <a:spcPts val="600"/>
              </a:spcAft>
            </a:pPr>
            <a:r>
              <a:rPr lang="en-US" altLang="en-US" sz="1800" dirty="0"/>
              <a:t>Biomedical  </a:t>
            </a:r>
          </a:p>
          <a:p>
            <a:pPr marL="642024" indent="-285750">
              <a:spcBef>
                <a:spcPct val="0"/>
              </a:spcBef>
              <a:spcAft>
                <a:spcPts val="600"/>
              </a:spcAft>
            </a:pPr>
            <a:r>
              <a:rPr lang="en-US" altLang="en-US" sz="1800" dirty="0"/>
              <a:t>Chemical  </a:t>
            </a:r>
          </a:p>
          <a:p>
            <a:pPr marL="642024" indent="-285750">
              <a:spcBef>
                <a:spcPct val="0"/>
              </a:spcBef>
              <a:spcAft>
                <a:spcPts val="600"/>
              </a:spcAft>
            </a:pPr>
            <a:r>
              <a:rPr lang="en-US" altLang="en-US" sz="1800" dirty="0"/>
              <a:t>Civil  </a:t>
            </a:r>
          </a:p>
          <a:p>
            <a:pPr marL="642024" indent="-285750">
              <a:spcBef>
                <a:spcPct val="0"/>
              </a:spcBef>
              <a:spcAft>
                <a:spcPts val="600"/>
              </a:spcAft>
            </a:pPr>
            <a:r>
              <a:rPr lang="en-US" altLang="en-US" sz="1800" dirty="0"/>
              <a:t>Electrical  </a:t>
            </a:r>
          </a:p>
          <a:p>
            <a:pPr marL="642024" indent="-285750">
              <a:spcBef>
                <a:spcPct val="0"/>
              </a:spcBef>
              <a:spcAft>
                <a:spcPts val="600"/>
              </a:spcAft>
            </a:pPr>
            <a:r>
              <a:rPr lang="en-US" altLang="en-US" sz="1800" dirty="0"/>
              <a:t>Environmental  </a:t>
            </a:r>
          </a:p>
          <a:p>
            <a:pPr marL="642024" indent="-285750">
              <a:spcBef>
                <a:spcPct val="0"/>
              </a:spcBef>
              <a:spcAft>
                <a:spcPts val="600"/>
              </a:spcAft>
            </a:pPr>
            <a:r>
              <a:rPr lang="en-US" altLang="en-US" sz="1800" dirty="0"/>
              <a:t>Health and Safety </a:t>
            </a:r>
          </a:p>
          <a:p>
            <a:pPr marL="642024" indent="-285750">
              <a:spcBef>
                <a:spcPct val="0"/>
              </a:spcBef>
              <a:spcAft>
                <a:spcPts val="600"/>
              </a:spcAft>
            </a:pPr>
            <a:r>
              <a:rPr lang="en-US" altLang="en-US" sz="1800" dirty="0"/>
              <a:t>Industrial  </a:t>
            </a:r>
          </a:p>
          <a:p>
            <a:pPr marL="642024" indent="-285750">
              <a:spcBef>
                <a:spcPct val="0"/>
              </a:spcBef>
              <a:spcAft>
                <a:spcPts val="600"/>
              </a:spcAft>
            </a:pPr>
            <a:r>
              <a:rPr lang="en-US" altLang="en-US" sz="1800" dirty="0"/>
              <a:t>Marine  </a:t>
            </a:r>
          </a:p>
          <a:p>
            <a:pPr marL="642024" indent="-285750">
              <a:spcBef>
                <a:spcPct val="0"/>
              </a:spcBef>
              <a:spcAft>
                <a:spcPts val="600"/>
              </a:spcAft>
            </a:pPr>
            <a:r>
              <a:rPr lang="en-US" altLang="en-US" sz="1800" dirty="0"/>
              <a:t>Mechanical  </a:t>
            </a:r>
          </a:p>
          <a:p>
            <a:pPr marL="642024" indent="-285750">
              <a:spcBef>
                <a:spcPct val="0"/>
              </a:spcBef>
              <a:spcAft>
                <a:spcPts val="600"/>
              </a:spcAft>
            </a:pPr>
            <a:r>
              <a:rPr lang="en-US" altLang="en-US" sz="1800" dirty="0"/>
              <a:t>Mining and Geological </a:t>
            </a:r>
          </a:p>
          <a:p>
            <a:pPr marL="642024" indent="-285750">
              <a:spcBef>
                <a:spcPct val="0"/>
              </a:spcBef>
              <a:spcAft>
                <a:spcPts val="600"/>
              </a:spcAft>
            </a:pPr>
            <a:r>
              <a:rPr lang="en-US" altLang="en-US" sz="1800" dirty="0"/>
              <a:t>Nuclear  </a:t>
            </a:r>
          </a:p>
          <a:p>
            <a:pPr marL="642024" indent="-285750">
              <a:spcBef>
                <a:spcPct val="0"/>
              </a:spcBef>
              <a:spcAft>
                <a:spcPts val="600"/>
              </a:spcAft>
            </a:pPr>
            <a:r>
              <a:rPr lang="en-US" altLang="en-US" sz="1800" dirty="0"/>
              <a:t>Petroleum  </a:t>
            </a:r>
            <a:endParaRPr lang="en-US" altLang="en-US" sz="600" dirty="0"/>
          </a:p>
        </txBody>
      </sp>
      <sp>
        <nvSpPr>
          <cNvPr id="250" name="Slide Number"/>
          <cNvSpPr>
            <a:spLocks noGrp="1"/>
          </cNvSpPr>
          <nvPr>
            <ph type="sldNum" sz="quarter" idx="12"/>
          </nvPr>
        </nvSpPr>
        <spPr/>
        <txBody>
          <a:bodyPr/>
          <a:lstStyle/>
          <a:p>
            <a:fld type="slidenum" id="{B6F15528-F159-4107-B29E-5A5F9D2E0204}">
              <a:rPr lang="en-US"/>
              <a:t>16</a:t>
            </a:fld>
          </a:p>
        </txBody>
      </sp>
    </spTree>
  </cSld>
  <clrMapOvr>
    <a:masterClrMapping/>
  </clrMapOvr>
  <transition spd="med">
    <ns5:morph option="char"/>
  </transition>
</sld>
</file>

<file path=ppt/slides/slide18.xml><?xml version="1.0" encoding="utf-8"?>
<sld xmlns="http://schemas.openxmlformats.org/presentationml/2006/main" xmlns:a="http://schemas.openxmlformats.org/drawingml/2006/main" xmlns:a16="http://schemas.microsoft.com/office/drawing/2014/main" xmlns:ns4="http://schemas.microsoft.com/office/drawing/2017/decorative" xmlns:ns5="http://schemas.microsoft.com/office/powerpoint/2015/main" xmlns:r="http://schemas.openxmlformats.org/officeDocument/2006/relationships">
  <cSld>
    <bg>
      <bgPr>
        <a:blipFill dpi="0" rotWithShape="1">
          <a:blip r:embed="rId3">
            <a:lum/>
          </a:blip>
          <a:srcRect/>
          <a:stretch>
            <a:fillRect t="-8000" b="-8000"/>
          </a:stretch>
        </a:blipFill>
        <a:effectLst/>
      </bgPr>
    </bg>
    <spTree>
      <nvGrpSpPr>
        <cNvPr id="1" name=""/>
        <cNvGrpSpPr/>
        <nvPr/>
      </nvGrpSpPr>
      <grpSpPr>
        <a:xfrm>
          <a:off x="0" y="0"/>
          <a:ext cx="0" cy="0"/>
          <a:chOff x="0" y="0"/>
          <a:chExt cx="0" cy="0"/>
        </a:xfrm>
      </grpSpPr>
      <sp>
        <nvSpPr>
          <cNvPr id="72" name="Freeform 5">
            <a:extLst>
              <a:ext uri="{FF2B5EF4-FFF2-40B4-BE49-F238E27FC236}">
                <a16:creationId id="{3CD9DF72-87A3-404E-A828-84CBF11A8303}"/>
              </a:ext>
              <a:ext uri="{C183D7F6-B498-43B3-948B-1728B52AA6E4}">
                <ns4:decorative val="1"/>
              </a:ext>
            </a:extLst>
          </cNvPr>
          <cNvSpPr>
            <a:spLocks noGrp="1" noRot="1" noChangeAspect="1" noMove="1" noResize="1" noEditPoints="1" noAdjustHandles="1" noChangeArrowheads="1" noChangeShapeType="1" noTextEdit="1"/>
          </cNvSpPr>
          <nvPr>
            <extLst>
              <ext uri="{386F3935-93C4-4BCD-93E2-E3B085C9AB24}">
                <ns5:designElem val="1"/>
              </ext>
            </extLst>
          </nvPr>
        </nvSpPr>
        <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spPr>
        <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txBody>
      </sp>
      <sp>
        <nvSpPr>
          <cNvPr id="39938" name="Rectangle 1">
            <a:extLst>
              <a:ext uri="{FF2B5EF4-FFF2-40B4-BE49-F238E27FC236}">
                <a16:creationId id="{A194CCD0-6E96-43E3-BFB5-3AE40051657E}"/>
              </a:ext>
            </a:extLst>
          </cNvPr>
          <cNvSpPr>
            <a:spLocks noGrp="1" noChangeArrowheads="1"/>
          </cNvSpPr>
          <nvPr>
            <ph type="title"/>
          </nvPr>
        </nvSpPr>
        <spPr>
          <a:xfrm>
            <a:off x="709448" y="1913950"/>
            <a:ext cx="4204137" cy="1342754"/>
          </a:xfrm>
        </spPr>
        <txBody>
          <a:bodyPr>
            <a:normAutofit/>
          </a:bodyPr>
          <a:lstStyle/>
          <a:p>
            <a:pPr algn="ctr" eaLnBrk="1" hangingPunct="1"/>
            <a:r>
              <a:rPr lang="en-US" altLang="en-US" sz="3600"/>
              <a:t>Some Math Careers:</a:t>
            </a:r>
          </a:p>
        </txBody>
      </sp>
      <cxnSp>
        <nvCxnSpPr>
          <cNvPr id="74" name="Straight Connector 73">
            <a:extLst>
              <a:ext uri="{FF2B5EF4-FFF2-40B4-BE49-F238E27FC236}">
                <a16:creationId id="{20E3A342-4D61-4E3F-AF90-1AB42AEB96CC}"/>
              </a:ext>
              <a:ext uri="{C183D7F6-B498-43B3-948B-1728B52AA6E4}">
                <ns4:decorative val="1"/>
              </a:ext>
            </a:extLst>
          </cNvPr>
          <cNvCxnSpPr>
            <a:cxnSpLocks noGrp="1" noRot="1" noChangeAspect="1" noMove="1" noResize="1" noEditPoints="1" noAdjustHandles="1" noChangeArrowheads="1" noChangeShapeType="1"/>
          </cNvCxnSpPr>
          <nvPr>
            <extLst>
              <ext uri="{386F3935-93C4-4BCD-93E2-E3B085C9AB24}">
                <ns5:designElem val="1"/>
              </ext>
            </extLst>
          </nvPr>
        </nvCxnSpPr>
        <spPr>
          <a:xfrm>
            <a:off x="2287051" y="3337139"/>
            <a:ext cx="935420" cy="0"/>
          </a:xfrm>
          <a:prstGeom prst="line">
            <a:avLst/>
          </a:prstGeom>
          <a:ln w="25400" cap="sq">
            <a:solidFill>
              <a:schemeClr val="tx1">
                <a:lumMod val="85000"/>
                <a:lumOff val="15000"/>
              </a:schemeClr>
            </a:solidFill>
            <a:bevel/>
          </a:ln>
        </spPr>
        <style>
          <a:lnRef idx="1">
            <a:schemeClr val="accent1"/>
          </a:lnRef>
          <a:fillRef idx="0">
            <a:schemeClr val="accent1"/>
          </a:fillRef>
          <a:effectRef idx="0">
            <a:schemeClr val="accent1"/>
          </a:effectRef>
          <a:fontRef idx="minor">
            <a:schemeClr val="tx1"/>
          </a:fontRef>
        </style>
      </cxnSp>
      <sp>
        <nvSpPr>
          <cNvPr id="39939" name="Rectangle 2">
            <a:extLst>
              <a:ext uri="{FF2B5EF4-FFF2-40B4-BE49-F238E27FC236}">
                <a16:creationId id="{BEFF9497-BEDA-4C2F-9E7B-07D17DC8288A}"/>
              </a:ext>
            </a:extLst>
          </cNvPr>
          <cNvSpPr>
            <a:spLocks noGrp="1" noChangeArrowheads="1"/>
          </cNvSpPr>
          <nvPr>
            <ph type="body" idx="1"/>
          </nvPr>
        </nvSpPr>
        <spPr>
          <a:xfrm>
            <a:off x="525516" y="3417573"/>
            <a:ext cx="4593021" cy="2619839"/>
          </a:xfrm>
        </spPr>
        <txBody>
          <a:bodyPr anchor="ctr">
            <a:normAutofit/>
          </a:bodyPr>
          <a:lstStyle/>
          <a:p>
            <a:pPr marL="750518" indent="-342900"/>
            <a:r>
              <a:rPr lang="en-US" altLang="en-US" sz="1800" dirty="0"/>
              <a:t>Actuaries</a:t>
            </a:r>
          </a:p>
          <a:p>
            <a:pPr marL="750518" indent="-342900"/>
            <a:r>
              <a:rPr lang="en-US" altLang="en-US" sz="1800" dirty="0"/>
              <a:t>Mathematicians</a:t>
            </a:r>
          </a:p>
          <a:p>
            <a:pPr marL="750518" indent="-342900"/>
            <a:r>
              <a:rPr lang="en-US" altLang="en-US" sz="1800" dirty="0"/>
              <a:t>Operations analysts</a:t>
            </a:r>
          </a:p>
          <a:p>
            <a:pPr marL="750518" indent="-342900"/>
            <a:r>
              <a:rPr lang="en-US" altLang="en-US" sz="1800" dirty="0"/>
              <a:t>Statisticians</a:t>
            </a:r>
          </a:p>
          <a:p>
            <a:pPr marL="750518" indent="-342900"/>
            <a:r>
              <a:rPr lang="en-US" altLang="en-US" sz="1800" dirty="0"/>
              <a:t>Economists</a:t>
            </a:r>
          </a:p>
          <a:p>
            <a:pPr marL="750518" indent="-342900"/>
            <a:r>
              <a:rPr lang="en-US" altLang="en-US" sz="1800" dirty="0"/>
              <a:t>Financial a</a:t>
            </a:r>
            <a:r>
              <a:rPr lang="en-US" sz="1800" dirty="0"/>
              <a:t>nalysts</a:t>
            </a:r>
            <a:endParaRPr lang="en-US" altLang="en-US" sz="1800" dirty="0"/>
          </a:p>
        </txBody>
      </sp>
      <sp>
        <nvSpPr>
          <cNvPr id="250" name="Slide Number"/>
          <cNvSpPr>
            <a:spLocks noGrp="1"/>
          </cNvSpPr>
          <nvPr>
            <ph type="sldNum" sz="quarter" idx="12"/>
          </nvPr>
        </nvSpPr>
        <spPr/>
        <txBody>
          <a:bodyPr/>
          <a:lstStyle/>
          <a:p>
            <a:fld type="slidenum" id="{B6F15528-F159-4107-B29E-5A5F9D2E0204}">
              <a:rPr lang="en-US"/>
              <a:t>17</a:t>
            </a:fld>
          </a:p>
        </txBody>
      </sp>
    </spTree>
  </cSld>
  <clrMapOvr>
    <a:masterClrMapping/>
  </clrMapOvr>
  <transition spd="med">
    <split orient="horz" dir="out"/>
  </transition>
</sld>
</file>

<file path=ppt/theme/theme1.xml><?xml version="1.0" encoding="utf-8"?>
<a:theme xmlns:a="http://schemas.openxmlformats.org/drawingml/2006/main" xmlns:ns1="http://schemas.microsoft.com/office/thememl/2012/main" name="Science Project 16x9">
  <a:themeElements>
    <a:clrScheme name="Aspect">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Gill Sans MT">
      <a:majorFont>
        <a:latin typeface="Gill Sans M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ill Sans M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ns1:themeFamily name="TF00001060.potx" id="{B0D06C54-B873-49D2-AD73-EE9BB8599BFF}" vid="{334807F6-B3E0-4323-AC38-BDC7A606DAA1}"/>
    </a:ext>
  </a:extLst>
</a:theme>
</file>

<file path=ppt/theme/theme2.xml><?xml version="1.0" encoding="utf-8"?>
<a:theme xmlns:a="http://schemas.openxmlformats.org/drawingml/2006/main" name="Office Theme">
  <a:themeElements>
    <a:clrScheme name="AcademicScience">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AcademicScience">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9">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7F6423F-2596-4E3F-BC5B-2777A2F3DB72}">
  <we:reference id="wa104178141" version="3.10.0.52" store="en-US" storeType="OMEX"/>
  <we:alternateReferences>
    <we:reference id="wa104178141" version="3.10.0.52" store="en-US" storeType="OMEX"/>
  </we:alternateReferences>
  <we:properties/>
  <we:bindings/>
  <we:snapshot xmlns:r="http://schemas.openxmlformats.org/officeDocument/2006/relationships"/>
</we:webextension>
</file>

<file path=customXml/_rels/item.xml.rels>&#65279;<?xml version="1.0" encoding="utf-8"?><Relationships xmlns="http://schemas.openxmlformats.org/package/2006/relationships"><Relationship Type="http://schemas.openxmlformats.org/officeDocument/2006/relationships/customXmlProps" Target="/customXml/itemProps1.xml" Id="R6864eada0aa34f2f" /></Relationships>
</file>

<file path=customXml/item.xml><?xml version="1.0" encoding="utf-8"?>
<project>
  <id>nGt3h9eSS0S6XrzpkLWNN4TvAUiHOzABpwMkR8FaeCGDGx9o62u0c/0sQ7fDS69sYzfMz08CzTwdVVkD0wCUZX+bNsWNhFIN-~HM8g4EC6oLiHIJ9UpdVWwA==#@#10995802#@#8/21/2021 2:51:21 PM</id>
</project>
</file>

<file path=customXml/itemProps1.xml><?xml version="1.0" encoding="utf-8"?>
<ds:datastoreItem xmlns:ds="http://schemas.openxmlformats.org/officedocument/2006/2/customXml" ds:itemID="{C66AC4F1-97D3-4D10-8D07-51E6CC79AD91}">
  <ds:schemaRefs>
    <ds:schemaRef ds:uri=""/>
  </ds:schemaRefs>
</ds:datastoreItem>
</file>

<file path=docProps/app.xml><?xml version="1.0" encoding="utf-8"?>
<Properties xmlns="http://schemas.openxmlformats.org/officeDocument/2006/extended-properties" xmlns:vt="http://schemas.openxmlformats.org/officeDocument/2006/docPropsVTypes">
  <Template>Science project presentation (widescreen)(2)</Template>
  <TotalTime>3063</TotalTime>
  <Words>503</Words>
  <Application>Microsoft Office PowerPoint</Application>
  <PresentationFormat>Widescreen</PresentationFormat>
  <Paragraphs>57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Science Project 16x9</vt:lpstr>
      <vt:lpstr>STEM Education</vt:lpstr>
      <vt:lpstr>What is STEM?</vt:lpstr>
      <vt:lpstr>Why STEM?</vt:lpstr>
      <vt:lpstr>U.S. Ratings</vt:lpstr>
      <vt:lpstr>STEM Occupations Expected to Grow</vt:lpstr>
      <vt:lpstr>Today’s Students are Tomorrow’s Leaders</vt:lpstr>
      <vt:lpstr>How?</vt:lpstr>
      <vt:lpstr>Overall STEM Education</vt:lpstr>
      <vt:lpstr>Current Curriculum </vt:lpstr>
      <vt:lpstr>Elementary School</vt:lpstr>
      <vt:lpstr>Middle School</vt:lpstr>
      <vt:lpstr>High School</vt:lpstr>
      <vt:lpstr>State of  STEM Education in the US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Project Title</dc:title>
  <dc:creator>Exploring Series</dc:creator>
  <cp:lastModifiedBy>Exploring Series</cp:lastModifiedBy>
  <cp:revision>45</cp:revision>
  <dcterms:created xsi:type="dcterms:W3CDTF">2018-07-03T13:52:52Z</dcterms:created>
  <dcterms:modified xsi:type="dcterms:W3CDTF">2021-08-21T14:51:21Z</dcterms:modified>
</cp:coreProperties>
</file>